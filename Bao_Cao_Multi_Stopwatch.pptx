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Thầy/Cô và các bạn sinh viên. Hôm nay nhóm chúng em xin được báo cáo đề tài đồ án môn Lập trình Đa nền tảng: 'Lập trình Bất đồng bộ với Future &amp; Stream: Xây dựng Module Reactive thời gian thực' thông qua ứng dụng Multi-Stopwatch. Nhóm gồm 2 thành viên: Bạn [Tên 1] phụ trách toàn bộ giao diện và State Management, và em là [Tên 2] phụ trách kiến trúc Business Logic, API Core và thiết kế báo cáo. Sau đây em xin bắt đầu phần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phân công công việc: Nhóm chia ranh giới module rất rạch ròi. Em đảm nhận 55% khối lượng bao gồm toàn bộ tầng Business Logic, nguồn nhịp, thuật toán mốc thời gian, xử lý stream cấp thấp, tầng lưu trữ, viết slide và tài liệu API. Bạn cùng nhóm đảm nhận 45% khối lượng bao gồm toàn bộ giao diện người dùng, quản lý State qua InheritedWidget, tối ưu hiệu năng dựng hình và kiểm thử widget. Nhờ có hợp đồng API tách bạch, hai bạn có thể lập trình song song mà không bị phụ thuộc lẫn nhau.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vào phần 1, đây là bức tranh kiến trúc tổng thể của hệ thống. Nhóm tách biệt hoàn toàn tầng Core và tầng UI. Toàn bộ logic bất đồng bộ nằm trong lib/core/, được viết bằng Dart thuần túy, hoàn toàn không dính líu đến widget hay context của Flutter. Điểm mấu chốt ở đây là việc phân tách rõ ràng 2 luồng Stream: 'tasksStream' chỉ phát khi trạng thái đồng hồ thay đổi, giúp danh sách không bị vẽ lại thừa thãi. Trong khi đó, 'elapsedStream' chỉ phát số thời gian chạy theo nhịp tick tới thẳng ô hiển thị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trong những câu hỏi học thuật quan trọng nhất của đề tài này là: 'Tại sao không dùng Timer cộng dồn +33ms mỗi tick?' Lý do là vì Timer trong Dart hoạt động trên Event Loop đơn luồng. Khi điện thoại bận xử lý đồ họa, dọn rác, hoặc app xuống nền, Dart sẽ bỏ qua các nhịp bị lỡ. Nếu cộng dồn tick, toàn bộ thời gian đó sẽ bị mất vĩnh viễn. Do đó, nhóm áp dụng công thức tính theo mốc thời gian: elapsed bằng accumulated cộng khoảng cách từ runningSince đến now. Tick chỉ đóng vai trò đánh thức giao diện đọc lại giờ, nên dù tick có trễ hay mất nhịp, thời gian đo được vẫn chính xác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tối ưu hóa tài nguyên, nhóm thiết kế lớp TickSource hoạt động theo cơ chế chạy lười (Lazy Evaluation). Thay vì mỗi đồng hồ tạo một Timer riêng làm tiêu tốn CPU và cập nhật lệch pha nhau, TickSource chỉ dùng duy nhất 1 Timer 33ms chung. Điểm thú vị là Timer này chỉ thực sự tồn tại khi có ít nhất một widget đang lắng nghe. Khi người dùng tạm dừng tất cả đồng hồ hoặc rời khỏi màn hình, callback 'onCancel' của broadcast stream sẽ lập tức hủy Timer. Nhờ đó ứng dụng không bao giờ bị chạy ngầm vô ích.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xử lý luồng dữ liệu cấp sâu, nhóm không sử dụng bất kỳ thư viện bên thứ ba nào như rxdart mà tự triển khai các StreamTransformer thuần Dart kế thừa StreamTransformerBase. Chúng em viết hai bộ biến đổi chính: Throttle và Debounce. Trong ThrottleTransformer, nhóm thiết kế thêm cờ 'trailing: true'. Cờ này đảm bảo khi người dùng bấm Pause, sự kiện cuối cùng bị chặn trong cửa sổ throttle vẫn được phát ra, giúp màn hình không bao giờ bị lệch frame cuối. Còn DebounceTransformer được áp dụng cho ô tìm kiếm, trì hoãn 300ms sau phím bấm cuối để tránh việc lọc danh sách liên tục.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tầng lưu trữ, nhóm triển khai mẫu thiết kế Repository Pattern với LocalTaskRepository dùng SharedPreferences, lưu dữ liệu dưới cấu trúc JSON có định danh phiên bản. Ngoài ra, chúng em xây dựng thêm RetryingTaskRepository áp dụng Decorator Pattern, có khả năng tự động thử lại với khoảng chờ tăng dần khi xảy ra lỗi ghi đĩa hoặc mất kết nối API giả lập. Đặc biệt, StopwatchManager có cơ chế bảo vệ giao dịch: nếu lưu trữ thất bại hoàn toàn, hệ thống sẽ tự động hoàn tác trạng thái trong bộ nhớ về trước đó (Rollback) và thông báo lên UI, đảm bảo dữ liệu hiển thị không bao giờ bị sai lệch so với dữ liệu lưu trên đĩa.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kết thúc phần Core, em xin trình bày 2 điểm sáng học thuật đặc biệt của dự án: Thứ nhất là StreamTracker: một cơ chế giám sát giúp đếm chính xác số lượng subscription đang mở và phát log vòng đời. Nhờ đó chúng em chứng minh được bằng thực nghiệm rằng ứng dụng không hề có rò rỉ bộ nhớ. Thứ hai là Event Loop Lab: thay vì giải thích lý thuyết suông, nhóm sử dụng kỹ thuật Dart Zone để bẫy và đo đạc thứ tự thực thi thật của 6 kịch bản bất đồng bộ, chứng minh nguyên lý Call Stack chạy trước, xả sạch Microtask Queue rồi mới tới Event Queue. Tiếp theo đây, em xin mời bạn [Tên 1] trình bày phần Giao diện và State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Thầy/Cô, em là [Tên 1], em xin tiếp tục trình bày phần 2 về Giao diện và Quản lý State. Để quản lý trạng thái, nhóm quyết định sử dụng InheritedWidget có sẵn của Flutter thông qua lớp StopwatchScope tự viết. Việc không dùng thêm thư viện như Bloc hay Provider giúp ứng dụng cực kỳ tinh gọn, bám sát bản chất cây widget của Flutter. StopwatchScope được đặt ngay tại gốc MultiStopwatchApp, chịu trách nhiệm khởi tạo service khi mở app và tự động dispose toàn bộ Stream và Timer khi widget gốc bị unmount, ngăn ngừa hoàn toàn các tiến trình chạy ngầm rò rỉ.</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bài toán kỹ thuật rất quan trọng ở phía UI là: Làm thế nào để ứng dụng vẫn mượt mà 60fps khi có hàng chục đồng hồ cùng chạy? Nếu đặt StreamBuilder ở thẻ TaskCard, thì mỗi giây toàn bộ thẻ đó sẽ bị build lại 30 lần, gây giật lag dữ dội. Nhóm giải quyết bài toán này bằng cách cô lập phạm vi rebuild: tách riêng ô hiển thị số giờ thành widget ElapsedText. Mỗi khi có tick mới, chỉ đúng duy nhất ô Text này được vẽ lại, toàn bộ cấu trúc card, các nút bấm và danh sách bên ngoài hoàn toàn đứng yên. Ngoài ra chúng em dùng font monospace để các chữ số không bị co giật khi nhảy số.</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Tại màn hình chính HomeScreen, nhóm tập trung tối đa vào trải nghiệm đa tác vụ của người dùng. Chúng em thiết kế một thanh công cụ Batch Operations Toolbar cho phép Chạy tất cả, Tạm dừng tất cả, Reset hoặc Xóa hàng loạt chỉ với 1 thao tác. Các nút bấm này rất thông minh: chúng tự động bật hoặc tắt dựa trên dữ liệu hiện tại, ví dụ không có đồng hồ nào đang chạy thì nút Tạm dừng sẽ tự mờ đi. Khi Reset hoặc Xóa, hệ thống sẽ hiện hộp thoại xác nhận nêu rõ số lượng đồng hồ bị ảnh hưởng. Ngoài ra giao diện có tính năng Responsive, tự động chuyển từ dạng danh sách trên điện thoại sang dạng lưới GridView trên máy tính bảng.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bấm vào một đồng hồ, ứng dụng chuyển sang màn hình chi tiết TaskDetailScreen. Màn hình này hiển thị đồng hồ bấm giờ cỡ lớn và hỗ trợ tính năng ghi nhận Lap (vòng chạy). Điểm nổi bật là hệ thống tự động tính toán chênh lệch Delta so với vòng ngay trước đó: nếu vòng này chạy nhanh hơn, Delta hiển thị màu xanh lá; nếu chạy chậm hơn, Delta hiển thị màu đỏ. Và một chi tiết kỹ thuật đắt giá: khi người dùng thoát khỏi màn hình này quay về danh sách, subscription nghe giờ sẽ được hủy tức thì, số lượng active subscription trên StreamTracker giảm chính xác từ 2 về 0, không để lại bất kỳ rò rỉ nào.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phục vụ buổi báo cáo và trả lời vấn đáp của Thầy/Cô, nhóm đã xây dựng hẳn hai màn hình công cụ tích hợp sẵn trong app: Màn hình thứ nhất là DebugScreen, cho phép quan sát trực tiếp số lượng subscription đang hoạt động theo thời gian thực. Thầy/Cô có thể thấy rõ khi mở một đồng hồ lên thì số subscription tăng, và khi thoát ra thì giảm về 0, chứng minh việc hủy luồng an toàn. Màn hình thứ hai là EventLabScreen, cho phép chạy thực nghiệm 6 kịch bản bất đồng bộ và trực quan hóa thứ tự chạy giữa Call Stack, Microtask Queue và Event Queue với các nhãn màu rõ ràng, giúp giải thích cặn kẽ mọi câu hỏi lý thuyết.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kết luận, đồ án của nhóm đã hoàn thành toàn diện cả về mặt logic nghiệp vụ lẫn giao diện người dùng. Dự án đạt độ tin cậy tuyệt đối với 221 bài kiểm thử tự động vượt qua 100%, và mã nguồn không có bất kỳ cảnh báo lint nào. Quan trọng nhất, qua đồ án này hai bạn sinh viên đã thực sự làm chủ cơ chế lập trình bất đồng bộ với Future &amp; Stream trong Dart, xây dựng thành công một module Reactive thời gian thực hiệu năng cao và vững chắc. Nhóm chúng em xin chân thành cảm ơn Thầy/Cô và các bạn đã chú ý lắng nghe. Nhóm sẵn sàng bước vào phần trả lời câu hỏi vấn đáp.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728655" cy="822960"/>
          </a:xfrm>
          <a:prstGeom prst="rect">
            <a:avLst/>
          </a:prstGeom>
          <a:noFill/>
        </p:spPr>
        <p:txBody>
          <a:bodyPr wrap="square">
            <a:spAutoFit/>
          </a:bodyPr>
          <a:lstStyle/>
          <a:p>
            <a:pPr algn="l">
              <a:spcBef>
                <a:spcPts val="0"/>
              </a:spcBef>
              <a:spcAft>
                <a:spcPts val="300"/>
              </a:spcAft>
            </a:pPr>
            <a:r>
              <a:rPr sz="1300" b="1" i="0">
                <a:solidFill>
                  <a:srgbClr val="1A4B8C"/>
                </a:solidFill>
                <a:latin typeface="Times New Roman"/>
              </a:rPr>
              <a:t>ĐẠI HỌC ĐÀ NẴNG  •  TRƯỜNG ĐẠI HỌC BÁCH KHOA  •  KHOA CÔNG NGHỆ THÔNG TIN</a:t>
            </a:r>
          </a:p>
          <a:p>
            <a:pPr algn="l">
              <a:spcBef>
                <a:spcPts val="0"/>
              </a:spcBef>
              <a:spcAft>
                <a:spcPts val="600"/>
              </a:spcAft>
            </a:pPr>
            <a:r>
              <a:rPr sz="1200" b="0" i="1">
                <a:solidFill>
                  <a:srgbClr val="5A5F69"/>
                </a:solidFill>
                <a:latin typeface="Times New Roman"/>
              </a:rPr>
              <a:t>BÁO CÁO ĐỒ ÁN MÔN HỌC: LẬP TRÌNH ĐA NỀN TẢNG</a:t>
            </a:r>
          </a:p>
        </p:txBody>
      </p:sp>
      <p:sp>
        <p:nvSpPr>
          <p:cNvPr id="4" name="TextBox 3"/>
          <p:cNvSpPr txBox="1"/>
          <p:nvPr/>
        </p:nvSpPr>
        <p:spPr>
          <a:xfrm>
            <a:off x="731520" y="1645920"/>
            <a:ext cx="10728655" cy="1463040"/>
          </a:xfrm>
          <a:prstGeom prst="rect">
            <a:avLst/>
          </a:prstGeom>
          <a:noFill/>
        </p:spPr>
        <p:txBody>
          <a:bodyPr wrap="square">
            <a:spAutoFit/>
          </a:bodyPr>
          <a:lstStyle/>
          <a:p>
            <a:pPr algn="l">
              <a:spcBef>
                <a:spcPts val="0"/>
              </a:spcBef>
              <a:spcAft>
                <a:spcPts val="800"/>
              </a:spcAft>
            </a:pPr>
            <a:r>
              <a:rPr sz="3000" b="1" i="0">
                <a:solidFill>
                  <a:srgbClr val="14233C"/>
                </a:solidFill>
                <a:latin typeface="Times New Roman"/>
              </a:rPr>
              <a:t>LẬP TRÌNH BẤT ĐỒNG BỘ VỚI FUTURE &amp; STREAM</a:t>
            </a:r>
          </a:p>
          <a:p>
            <a:pPr algn="l">
              <a:spcBef>
                <a:spcPts val="0"/>
              </a:spcBef>
              <a:spcAft>
                <a:spcPts val="600"/>
              </a:spcAft>
            </a:pPr>
            <a:r>
              <a:rPr sz="2000" b="0" i="1">
                <a:solidFill>
                  <a:srgbClr val="1A4B8C"/>
                </a:solidFill>
                <a:latin typeface="Times New Roman"/>
              </a:rPr>
              <a:t>Xây dựng Module Reactive thời gian thực – Ứng dụng Multi-Stopwatch</a:t>
            </a:r>
          </a:p>
        </p:txBody>
      </p:sp>
      <p:sp>
        <p:nvSpPr>
          <p:cNvPr id="5" name="Rounded Rectangle 4"/>
          <p:cNvSpPr/>
          <p:nvPr/>
        </p:nvSpPr>
        <p:spPr>
          <a:xfrm>
            <a:off x="731520" y="3383280"/>
            <a:ext cx="5212080" cy="2011680"/>
          </a:xfrm>
          <a:prstGeom prst="roundRect">
            <a:avLst/>
          </a:prstGeom>
          <a:solidFill>
            <a:srgbClr val="F8FAFC"/>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320040" tIns="228600"/>
          <a:lstStyle/>
          <a:p>
            <a:pPr algn="l">
              <a:spcBef>
                <a:spcPts val="0"/>
              </a:spcBef>
              <a:spcAft>
                <a:spcPts val="800"/>
              </a:spcAft>
            </a:pPr>
            <a:r>
              <a:rPr sz="1500" b="1" i="0">
                <a:solidFill>
                  <a:srgbClr val="1A4B8C"/>
                </a:solidFill>
                <a:latin typeface="Times New Roman"/>
              </a:rPr>
              <a:t>THÀNH VIÊN 1: UI &amp; STATE MANAGEMENT (45%)</a:t>
            </a:r>
          </a:p>
          <a:p>
            <a:pPr algn="l">
              <a:spcBef>
                <a:spcPts val="0"/>
              </a:spcBef>
              <a:spcAft>
                <a:spcPts val="400"/>
              </a:spcAft>
            </a:pPr>
            <a:r>
              <a:rPr sz="1600" b="0" i="0">
                <a:solidFill>
                  <a:srgbClr val="1E1E1E"/>
                </a:solidFill>
                <a:latin typeface="Times New Roman"/>
              </a:rPr>
              <a:t>• Họ và tên:   [Họ và tên sinh viên 1]</a:t>
            </a:r>
          </a:p>
          <a:p>
            <a:pPr algn="l">
              <a:spcBef>
                <a:spcPts val="0"/>
              </a:spcBef>
              <a:spcAft>
                <a:spcPts val="400"/>
              </a:spcAft>
            </a:pPr>
            <a:r>
              <a:rPr sz="1600" b="0" i="0">
                <a:solidFill>
                  <a:srgbClr val="1E1E1E"/>
                </a:solidFill>
                <a:latin typeface="Times New Roman"/>
              </a:rPr>
              <a:t>• Mã số SV:   [Mã số sinh viên 1]</a:t>
            </a:r>
          </a:p>
          <a:p>
            <a:pPr algn="l">
              <a:spcBef>
                <a:spcPts val="0"/>
              </a:spcBef>
              <a:spcAft>
                <a:spcPts val="600"/>
              </a:spcAft>
            </a:pPr>
            <a:r>
              <a:rPr sz="1600" b="0" i="0">
                <a:solidFill>
                  <a:srgbClr val="1E1E1E"/>
                </a:solidFill>
                <a:latin typeface="Times New Roman"/>
              </a:rPr>
              <a:t>• Lớp SH:      [Lớp sinh viên 1]</a:t>
            </a:r>
          </a:p>
        </p:txBody>
      </p:sp>
      <p:sp>
        <p:nvSpPr>
          <p:cNvPr id="6" name="Rounded Rectangle 5"/>
          <p:cNvSpPr/>
          <p:nvPr/>
        </p:nvSpPr>
        <p:spPr>
          <a:xfrm>
            <a:off x="6217920" y="3383280"/>
            <a:ext cx="5212080" cy="2011680"/>
          </a:xfrm>
          <a:prstGeom prst="roundRect">
            <a:avLst/>
          </a:prstGeom>
          <a:solidFill>
            <a:srgbClr val="F8FAFC"/>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320040" tIns="228600"/>
          <a:lstStyle/>
          <a:p>
            <a:pPr algn="l">
              <a:spcBef>
                <a:spcPts val="0"/>
              </a:spcBef>
              <a:spcAft>
                <a:spcPts val="800"/>
              </a:spcAft>
            </a:pPr>
            <a:r>
              <a:rPr sz="1500" b="1" i="0">
                <a:solidFill>
                  <a:srgbClr val="1A4B8C"/>
                </a:solidFill>
                <a:latin typeface="Times New Roman"/>
              </a:rPr>
              <a:t>THÀNH VIÊN 2: BUSINESS LOGIC, API &amp; SLIDE (55%)</a:t>
            </a:r>
          </a:p>
          <a:p>
            <a:pPr algn="l">
              <a:spcBef>
                <a:spcPts val="0"/>
              </a:spcBef>
              <a:spcAft>
                <a:spcPts val="400"/>
              </a:spcAft>
            </a:pPr>
            <a:r>
              <a:rPr sz="1600" b="0" i="0">
                <a:solidFill>
                  <a:srgbClr val="1E1E1E"/>
                </a:solidFill>
                <a:latin typeface="Times New Roman"/>
              </a:rPr>
              <a:t>• Họ và tên:   [Họ và tên sinh viên 2]</a:t>
            </a:r>
          </a:p>
          <a:p>
            <a:pPr algn="l">
              <a:spcBef>
                <a:spcPts val="0"/>
              </a:spcBef>
              <a:spcAft>
                <a:spcPts val="400"/>
              </a:spcAft>
            </a:pPr>
            <a:r>
              <a:rPr sz="1600" b="0" i="0">
                <a:solidFill>
                  <a:srgbClr val="1E1E1E"/>
                </a:solidFill>
                <a:latin typeface="Times New Roman"/>
              </a:rPr>
              <a:t>• Mã số SV:   [Mã số sinh viên 2]</a:t>
            </a:r>
          </a:p>
          <a:p>
            <a:pPr algn="l">
              <a:spcBef>
                <a:spcPts val="0"/>
              </a:spcBef>
              <a:spcAft>
                <a:spcPts val="600"/>
              </a:spcAft>
            </a:pPr>
            <a:r>
              <a:rPr sz="1600" b="0" i="0">
                <a:solidFill>
                  <a:srgbClr val="1E1E1E"/>
                </a:solidFill>
                <a:latin typeface="Times New Roman"/>
              </a:rPr>
              <a:t>• Lớp SH:      [Lớp sinh viên 2]</a:t>
            </a:r>
          </a:p>
        </p:txBody>
      </p:sp>
      <p:sp>
        <p:nvSpPr>
          <p:cNvPr id="7" name="TextBox 6"/>
          <p:cNvSpPr txBox="1"/>
          <p:nvPr/>
        </p:nvSpPr>
        <p:spPr>
          <a:xfrm>
            <a:off x="731520" y="5760720"/>
            <a:ext cx="10728655" cy="548640"/>
          </a:xfrm>
          <a:prstGeom prst="rect">
            <a:avLst/>
          </a:prstGeom>
          <a:noFill/>
        </p:spPr>
        <p:txBody>
          <a:bodyPr wrap="none">
            <a:spAutoFit/>
          </a:bodyPr>
          <a:lstStyle/>
          <a:p>
            <a:pPr algn="l">
              <a:spcBef>
                <a:spcPts val="0"/>
              </a:spcBef>
              <a:spcAft>
                <a:spcPts val="600"/>
              </a:spcAft>
            </a:pPr>
            <a:r>
              <a:rPr sz="1300" b="0" i="1">
                <a:solidFill>
                  <a:srgbClr val="5A5F69"/>
                </a:solidFill>
                <a:latin typeface="Times New Roman"/>
              </a:rPr>
              <a:t>Giảng viên hướng dẫn: [Họ và tên Thầy / Cô]    •    Đà Nẵng, Học kỳ 1 Năm học 2026 – 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TỔ CHỨC DỰ ÁN &amp; LÀM VIỆC NHÓM</a:t>
            </a:r>
          </a:p>
          <a:p>
            <a:pPr algn="l">
              <a:spcBef>
                <a:spcPts val="0"/>
              </a:spcBef>
              <a:spcAft>
                <a:spcPts val="0"/>
              </a:spcAft>
            </a:pPr>
            <a:r>
              <a:rPr sz="2600" b="1" i="0">
                <a:solidFill>
                  <a:srgbClr val="14233C"/>
                </a:solidFill>
                <a:latin typeface="Times New Roman"/>
              </a:rPr>
              <a:t>PHÂN CÔNG CÔNG VIỆC VÀ TỶ LỆ ĐÓNG GÓP</a:t>
            </a:r>
          </a:p>
        </p:txBody>
      </p:sp>
      <p:sp>
        <p:nvSpPr>
          <p:cNvPr id="4" name="Rounded Rectangle 3"/>
          <p:cNvSpPr/>
          <p:nvPr/>
        </p:nvSpPr>
        <p:spPr>
          <a:xfrm>
            <a:off x="731520" y="1645920"/>
            <a:ext cx="5212080" cy="3291840"/>
          </a:xfrm>
          <a:prstGeom prst="roundRect">
            <a:avLst/>
          </a:prstGeom>
          <a:solidFill>
            <a:srgbClr val="F8FAFC"/>
          </a:solidFill>
          <a:ln w="254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l">
              <a:spcBef>
                <a:spcPts val="0"/>
              </a:spcBef>
              <a:spcAft>
                <a:spcPts val="800"/>
              </a:spcAft>
            </a:pPr>
            <a:r>
              <a:rPr sz="2200" b="1" i="0">
                <a:solidFill>
                  <a:srgbClr val="14233C"/>
                </a:solidFill>
                <a:latin typeface="Times New Roman"/>
              </a:rPr>
              <a:t>[HỌ VÀ TÊN SINH VIÊN 2]</a:t>
            </a:r>
          </a:p>
          <a:p>
            <a:pPr algn="l">
              <a:spcBef>
                <a:spcPts val="0"/>
              </a:spcBef>
              <a:spcAft>
                <a:spcPts val="2200"/>
              </a:spcAft>
            </a:pPr>
            <a:r>
              <a:rPr sz="1500" b="0" i="0">
                <a:solidFill>
                  <a:srgbClr val="5A5F69"/>
                </a:solidFill>
                <a:latin typeface="Times New Roman"/>
              </a:rPr>
              <a:t>Lớp: [Lớp sinh hoạt 2]   |   MSSV: [Mã số SV 2]</a:t>
            </a:r>
          </a:p>
          <a:p>
            <a:pPr algn="l">
              <a:spcBef>
                <a:spcPts val="0"/>
              </a:spcBef>
              <a:spcAft>
                <a:spcPts val="800"/>
              </a:spcAft>
            </a:pPr>
            <a:r>
              <a:rPr sz="1600" b="1" i="0">
                <a:solidFill>
                  <a:srgbClr val="1A4B8C"/>
                </a:solidFill>
                <a:latin typeface="Times New Roman"/>
              </a:rPr>
              <a:t>ĐẢM NHIỆM CHÍNH:</a:t>
            </a:r>
          </a:p>
          <a:p>
            <a:pPr algn="l">
              <a:spcBef>
                <a:spcPts val="0"/>
              </a:spcBef>
              <a:spcAft>
                <a:spcPts val="2400"/>
              </a:spcAft>
            </a:pPr>
            <a:r>
              <a:rPr sz="1800" b="1" i="0">
                <a:solidFill>
                  <a:srgbClr val="14233C"/>
                </a:solidFill>
                <a:latin typeface="Times New Roman"/>
              </a:rPr>
              <a:t>Business Logic, Developer API &amp; Slide Báo cáo</a:t>
            </a:r>
          </a:p>
          <a:p>
            <a:pPr algn="ctr">
              <a:spcBef>
                <a:spcPts val="0"/>
              </a:spcBef>
              <a:spcAft>
                <a:spcPts val="600"/>
              </a:spcAft>
            </a:pPr>
            <a:r>
              <a:rPr sz="2400" b="1" i="0">
                <a:solidFill>
                  <a:srgbClr val="14233C"/>
                </a:solidFill>
                <a:latin typeface="Times New Roman"/>
              </a:rPr>
              <a:t>TỶ LỆ ĐÓNG GÓP: 55%</a:t>
            </a:r>
          </a:p>
        </p:txBody>
      </p:sp>
      <p:sp>
        <p:nvSpPr>
          <p:cNvPr id="5" name="Rounded Rectangle 4"/>
          <p:cNvSpPr/>
          <p:nvPr/>
        </p:nvSpPr>
        <p:spPr>
          <a:xfrm>
            <a:off x="6217920" y="1645920"/>
            <a:ext cx="5212080" cy="3291840"/>
          </a:xfrm>
          <a:prstGeom prst="roundRect">
            <a:avLst/>
          </a:prstGeom>
          <a:solidFill>
            <a:srgbClr val="F8FAFC"/>
          </a:solidFill>
          <a:ln w="254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l">
              <a:spcBef>
                <a:spcPts val="0"/>
              </a:spcBef>
              <a:spcAft>
                <a:spcPts val="800"/>
              </a:spcAft>
            </a:pPr>
            <a:r>
              <a:rPr sz="2200" b="1" i="0">
                <a:solidFill>
                  <a:srgbClr val="14233C"/>
                </a:solidFill>
                <a:latin typeface="Times New Roman"/>
              </a:rPr>
              <a:t>[HỌ VÀ TÊN SINH VIÊN 1]</a:t>
            </a:r>
          </a:p>
          <a:p>
            <a:pPr algn="l">
              <a:spcBef>
                <a:spcPts val="0"/>
              </a:spcBef>
              <a:spcAft>
                <a:spcPts val="2200"/>
              </a:spcAft>
            </a:pPr>
            <a:r>
              <a:rPr sz="1500" b="0" i="0">
                <a:solidFill>
                  <a:srgbClr val="5A5F69"/>
                </a:solidFill>
                <a:latin typeface="Times New Roman"/>
              </a:rPr>
              <a:t>Lớp: [Lớp sinh hoạt 1]   |   MSSV: [Mã số SV 1]</a:t>
            </a:r>
          </a:p>
          <a:p>
            <a:pPr algn="l">
              <a:spcBef>
                <a:spcPts val="0"/>
              </a:spcBef>
              <a:spcAft>
                <a:spcPts val="800"/>
              </a:spcAft>
            </a:pPr>
            <a:r>
              <a:rPr sz="1600" b="1" i="0">
                <a:solidFill>
                  <a:srgbClr val="1A4B8C"/>
                </a:solidFill>
                <a:latin typeface="Times New Roman"/>
              </a:rPr>
              <a:t>ĐẢM NHIỆM CHÍNH:</a:t>
            </a:r>
          </a:p>
          <a:p>
            <a:pPr algn="l">
              <a:spcBef>
                <a:spcPts val="0"/>
              </a:spcBef>
              <a:spcAft>
                <a:spcPts val="2400"/>
              </a:spcAft>
            </a:pPr>
            <a:r>
              <a:rPr sz="1800" b="1" i="0">
                <a:solidFill>
                  <a:srgbClr val="14233C"/>
                </a:solidFill>
                <a:latin typeface="Times New Roman"/>
              </a:rPr>
              <a:t>UI Components, State Management &amp; Widget Tests</a:t>
            </a:r>
          </a:p>
          <a:p>
            <a:pPr algn="ctr">
              <a:spcBef>
                <a:spcPts val="0"/>
              </a:spcBef>
              <a:spcAft>
                <a:spcPts val="600"/>
              </a:spcAft>
            </a:pPr>
            <a:r>
              <a:rPr sz="2400" b="1" i="0">
                <a:solidFill>
                  <a:srgbClr val="1A4B8C"/>
                </a:solidFill>
                <a:latin typeface="Times New Roman"/>
              </a:rPr>
              <a:t>TỶ LỆ ĐÓNG GÓP: 45%</a:t>
            </a:r>
          </a:p>
        </p:txBody>
      </p:sp>
      <p:sp>
        <p:nvSpPr>
          <p:cNvPr id="6" name="Rounded Rectangle 5"/>
          <p:cNvSpPr/>
          <p:nvPr/>
        </p:nvSpPr>
        <p:spPr>
          <a:xfrm>
            <a:off x="731520" y="5212080"/>
            <a:ext cx="10728655" cy="1005840"/>
          </a:xfrm>
          <a:prstGeom prst="roundRect">
            <a:avLst/>
          </a:prstGeom>
          <a:solidFill>
            <a:srgbClr val="F0F5FC"/>
          </a:solidFill>
          <a:ln w="1905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64592"/>
          <a:lstStyle/>
          <a:p>
            <a:pPr algn="l">
              <a:spcBef>
                <a:spcPts val="0"/>
              </a:spcBef>
              <a:spcAft>
                <a:spcPts val="400"/>
              </a:spcAft>
            </a:pPr>
            <a:r>
              <a:rPr sz="1500" b="1" i="0">
                <a:solidFill>
                  <a:srgbClr val="1A4B8C"/>
                </a:solidFill>
                <a:latin typeface="Times New Roman"/>
              </a:rPr>
              <a:t>Nguyên tắc cộng tác: </a:t>
            </a:r>
            <a:r>
              <a:rPr sz="1500">
                <a:solidFill>
                  <a:srgbClr val="1E1E1E"/>
                </a:solidFill>
                <a:latin typeface="Times New Roman"/>
              </a:rPr>
              <a:t>Phân chia ranh giới module rõ ràng. Hai thành viên chỉ giao tiếp qua hợp đồng độc lập (StopwatchService), phát triển và kiểm thử song song, đảm bảo mã nguồn tuân thủ lint tuyệt đối và không có rò rỉ bộ nhớ.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PHẦN 1: BUSINESS LOGIC &amp; CORE ARCHITECTURE</a:t>
            </a:r>
          </a:p>
          <a:p>
            <a:pPr algn="l">
              <a:spcBef>
                <a:spcPts val="0"/>
              </a:spcBef>
              <a:spcAft>
                <a:spcPts val="0"/>
              </a:spcAft>
            </a:pPr>
            <a:r>
              <a:rPr sz="2600" b="1" i="0">
                <a:solidFill>
                  <a:srgbClr val="14233C"/>
                </a:solidFill>
                <a:latin typeface="Times New Roman"/>
              </a:rPr>
              <a:t>KIẾN TRÚC TỔNG THỂ VÀ REACTIVE DATA FLOW</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Tách biệt hoàn toàn Core và UI</a:t>
            </a:r>
          </a:p>
          <a:p>
            <a:pPr algn="l">
              <a:spcBef>
                <a:spcPts val="0"/>
              </a:spcBef>
              <a:spcAft>
                <a:spcPts val="1800"/>
              </a:spcAft>
            </a:pPr>
            <a:r>
              <a:rPr sz="1600" b="0" i="0">
                <a:solidFill>
                  <a:srgbClr val="1E1E1E"/>
                </a:solidFill>
                <a:latin typeface="Times New Roman"/>
              </a:rPr>
              <a:t>Module lib/core/ viết bằng Dart thuần túy, không phụ thuộc bất kỳ API nào của Flutter SDK. Cho phép unit test nhanh chóng và độc lập.</a:t>
            </a:r>
          </a:p>
          <a:p>
            <a:pPr algn="l">
              <a:spcBef>
                <a:spcPts val="0"/>
              </a:spcBef>
              <a:spcAft>
                <a:spcPts val="400"/>
              </a:spcAft>
            </a:pPr>
            <a:r>
              <a:rPr sz="1800" b="1" i="0">
                <a:solidFill>
                  <a:srgbClr val="14233C"/>
                </a:solidFill>
                <a:latin typeface="Times New Roman"/>
              </a:rPr>
              <a:t>Giao tiếp qua Interface StopwatchService</a:t>
            </a:r>
          </a:p>
          <a:p>
            <a:pPr algn="l">
              <a:spcBef>
                <a:spcPts val="0"/>
              </a:spcBef>
              <a:spcAft>
                <a:spcPts val="1800"/>
              </a:spcAft>
            </a:pPr>
            <a:r>
              <a:rPr sz="1600" b="0" i="0">
                <a:solidFill>
                  <a:srgbClr val="1E1E1E"/>
                </a:solidFill>
                <a:latin typeface="Times New Roman"/>
              </a:rPr>
              <a:t>UI chỉ phụ thuộc vào bản hợp đồng interface trừu tượng. Mọi chi tiết cài đặt bên trong có thể thay đổi linh hoạt mà không phá vỡ giao diện.</a:t>
            </a:r>
          </a:p>
          <a:p>
            <a:pPr algn="l">
              <a:spcBef>
                <a:spcPts val="0"/>
              </a:spcBef>
              <a:spcAft>
                <a:spcPts val="400"/>
              </a:spcAft>
            </a:pPr>
            <a:r>
              <a:rPr sz="1800" b="1" i="0">
                <a:solidFill>
                  <a:srgbClr val="14233C"/>
                </a:solidFill>
                <a:latin typeface="Times New Roman"/>
              </a:rPr>
              <a:t>Phân tách rõ ràng 2 luồng Stream</a:t>
            </a:r>
          </a:p>
          <a:p>
            <a:pPr algn="l">
              <a:spcBef>
                <a:spcPts val="0"/>
              </a:spcBef>
              <a:spcAft>
                <a:spcPts val="1800"/>
              </a:spcAft>
            </a:pPr>
            <a:r>
              <a:rPr sz="1600" b="0" i="0">
                <a:solidFill>
                  <a:srgbClr val="1E1E1E"/>
                </a:solidFill>
                <a:latin typeface="Times New Roman"/>
              </a:rPr>
              <a:t>• tasksStream: Chỉ phát khi danh sách/trạng thái đổi (thêm, xóa, pause, lap) -&gt; Tránh rebuild UI liên tục.</a:t>
            </a:r>
            <a:br/>
            <a:r>
              <a:rPr sz="1600" b="0" i="0">
                <a:solidFill>
                  <a:srgbClr val="1E1E1E"/>
                </a:solidFill>
                <a:latin typeface="Times New Roman"/>
              </a:rPr>
              <a:t>• elapsedStream(id): Phát số mili-giây riêng cho từng đồng hồ theo nhịp tick -&gt; Chỉ ô giờ vẽ lại.</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lib/core/services/stopwatch_service.dart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14233C"/>
                </a:solidFill>
                <a:latin typeface="Consolas"/>
              </a:rPr>
              <a:t>abstract interface class StopwatchService {</a:t>
            </a:r>
          </a:p>
          <a:p>
            <a:pPr algn="l">
              <a:spcBef>
                <a:spcPts val="0"/>
              </a:spcBef>
              <a:spcAft>
                <a:spcPts val="200"/>
              </a:spcAft>
            </a:pPr>
            <a:r>
              <a:rPr sz="1100" b="0" i="0">
                <a:solidFill>
                  <a:srgbClr val="5A5F69"/>
                </a:solidFill>
                <a:latin typeface="Consolas"/>
              </a:rPr>
              <a:t>  /// Stream phát danh sách khi trạng thái đổi</a:t>
            </a:r>
          </a:p>
          <a:p>
            <a:pPr algn="l">
              <a:spcBef>
                <a:spcPts val="0"/>
              </a:spcBef>
              <a:spcAft>
                <a:spcPts val="200"/>
              </a:spcAft>
            </a:pPr>
            <a:r>
              <a:rPr sz="1100" b="0" i="0">
                <a:solidFill>
                  <a:srgbClr val="14233C"/>
                </a:solidFill>
                <a:latin typeface="Consolas"/>
              </a:rPr>
              <a:t>  Stream&lt;List&lt;TaskSnapshot&gt;&gt; get tasksStream;</a:t>
            </a:r>
          </a:p>
          <a:p>
            <a:pPr algn="l">
              <a:spcBef>
                <a:spcPts val="0"/>
              </a:spcBef>
              <a:spcAft>
                <a:spcPts val="200"/>
              </a:spcAft>
            </a:pPr>
          </a:p>
          <a:p>
            <a:pPr algn="l">
              <a:spcBef>
                <a:spcPts val="0"/>
              </a:spcBef>
              <a:spcAft>
                <a:spcPts val="200"/>
              </a:spcAft>
            </a:pPr>
            <a:r>
              <a:rPr sz="1100" b="0" i="0">
                <a:solidFill>
                  <a:srgbClr val="5A5F69"/>
                </a:solidFill>
                <a:latin typeface="Consolas"/>
              </a:rPr>
              <a:t>  /// Stream phát thời gian chạy cho từng đồng hồ</a:t>
            </a:r>
          </a:p>
          <a:p>
            <a:pPr algn="l">
              <a:spcBef>
                <a:spcPts val="0"/>
              </a:spcBef>
              <a:spcAft>
                <a:spcPts val="200"/>
              </a:spcAft>
            </a:pPr>
            <a:r>
              <a:rPr sz="1100" b="0" i="0">
                <a:solidFill>
                  <a:srgbClr val="14233C"/>
                </a:solidFill>
                <a:latin typeface="Consolas"/>
              </a:rPr>
              <a:t>  Stream&lt;Duration&gt; elapsedStream(String id);</a:t>
            </a:r>
          </a:p>
          <a:p>
            <a:pPr algn="l">
              <a:spcBef>
                <a:spcPts val="0"/>
              </a:spcBef>
              <a:spcAft>
                <a:spcPts val="200"/>
              </a:spcAft>
            </a:pPr>
          </a:p>
          <a:p>
            <a:pPr algn="l">
              <a:spcBef>
                <a:spcPts val="0"/>
              </a:spcBef>
              <a:spcAft>
                <a:spcPts val="200"/>
              </a:spcAft>
            </a:pPr>
            <a:r>
              <a:rPr sz="1100" b="0" i="0">
                <a:solidFill>
                  <a:srgbClr val="14233C"/>
                </a:solidFill>
                <a:latin typeface="Consolas"/>
              </a:rPr>
              <a:t>  Future&lt;StopwatchTask&gt; createTask({required String name, ...});</a:t>
            </a:r>
          </a:p>
          <a:p>
            <a:pPr algn="l">
              <a:spcBef>
                <a:spcPts val="0"/>
              </a:spcBef>
              <a:spcAft>
                <a:spcPts val="200"/>
              </a:spcAft>
            </a:pPr>
            <a:r>
              <a:rPr sz="1100" b="0" i="0">
                <a:solidFill>
                  <a:srgbClr val="14233C"/>
                </a:solidFill>
                <a:latin typeface="Consolas"/>
              </a:rPr>
              <a:t>  Future&lt;void&gt; start(String id);</a:t>
            </a:r>
          </a:p>
          <a:p>
            <a:pPr algn="l">
              <a:spcBef>
                <a:spcPts val="0"/>
              </a:spcBef>
              <a:spcAft>
                <a:spcPts val="200"/>
              </a:spcAft>
            </a:pPr>
            <a:r>
              <a:rPr sz="1100" b="0" i="0">
                <a:solidFill>
                  <a:srgbClr val="14233C"/>
                </a:solidFill>
                <a:latin typeface="Consolas"/>
              </a:rPr>
              <a:t>  Future&lt;void&gt; pause(String id);</a:t>
            </a:r>
          </a:p>
          <a:p>
            <a:pPr algn="l">
              <a:spcBef>
                <a:spcPts val="0"/>
              </a:spcBef>
              <a:spcAft>
                <a:spcPts val="200"/>
              </a:spcAft>
            </a:pPr>
            <a:r>
              <a:rPr sz="1100" b="0" i="0">
                <a:solidFill>
                  <a:srgbClr val="14233C"/>
                </a:solidFill>
                <a:latin typeface="Consolas"/>
              </a:rPr>
              <a:t>  Future&lt;void&gt; lap(String id);</a:t>
            </a:r>
          </a:p>
          <a:p>
            <a:pPr algn="l">
              <a:spcBef>
                <a:spcPts val="0"/>
              </a:spcBef>
              <a:spcAft>
                <a:spcPts val="200"/>
              </a:spcAft>
            </a:pPr>
            <a:r>
              <a:rPr sz="1100" b="0" i="0">
                <a:solidFill>
                  <a:srgbClr val="14233C"/>
                </a:solidFill>
                <a:latin typeface="Consolas"/>
              </a:rPr>
              <a:t>  Future&lt;void&gt; dispose();</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Giao diện chuẩn hóa che giấu toàn bộ logic phức tạp; tách 2 stream riêng biệt để UI đạt hiệu năng cao nhất.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XỬ LÝ THỜI GIAN CHÍNH XÁC</a:t>
            </a:r>
          </a:p>
          <a:p>
            <a:pPr algn="l">
              <a:spcBef>
                <a:spcPts val="0"/>
              </a:spcBef>
              <a:spcAft>
                <a:spcPts val="0"/>
              </a:spcAft>
            </a:pPr>
            <a:r>
              <a:rPr sz="2600" b="1" i="0">
                <a:solidFill>
                  <a:srgbClr val="14233C"/>
                </a:solidFill>
                <a:latin typeface="Times New Roman"/>
              </a:rPr>
              <a:t>BÀI TOÁN TRÔI GIỜ VÀ THUẬT TOÁN TÍNH THEO MỐC</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B22222"/>
                </a:solidFill>
                <a:latin typeface="Times New Roman"/>
              </a:rPr>
              <a:t>Hạn chế chết người của phép cộng dồn tick (+33ms)</a:t>
            </a:r>
          </a:p>
          <a:p>
            <a:pPr algn="l">
              <a:spcBef>
                <a:spcPts val="0"/>
              </a:spcBef>
              <a:spcAft>
                <a:spcPts val="1600"/>
              </a:spcAft>
            </a:pPr>
            <a:r>
              <a:rPr sz="1600" b="0" i="0">
                <a:solidFill>
                  <a:srgbClr val="1E1E1E"/>
                </a:solidFill>
                <a:latin typeface="Times New Roman"/>
              </a:rPr>
              <a:t>Timer trong Dart phụ thuộc Event Loop. Khi GC chạy, dựng frame nặng hoặc app xuống nền, nhịp tick bị trễ hoặc bỏ qua. Phép cộng dồn tích lũy sai số lên hàng phút sau vài giờ.</a:t>
            </a:r>
          </a:p>
          <a:p>
            <a:pPr algn="l">
              <a:spcBef>
                <a:spcPts val="0"/>
              </a:spcBef>
              <a:spcAft>
                <a:spcPts val="400"/>
              </a:spcAft>
            </a:pPr>
            <a:r>
              <a:rPr sz="1800" b="1" i="0">
                <a:solidFill>
                  <a:srgbClr val="14233C"/>
                </a:solidFill>
                <a:latin typeface="Times New Roman"/>
              </a:rPr>
              <a:t>Giải pháp: Thuật toán tính theo mốc thời gian</a:t>
            </a:r>
          </a:p>
          <a:p>
            <a:pPr algn="l">
              <a:spcBef>
                <a:spcPts val="0"/>
              </a:spcBef>
              <a:spcAft>
                <a:spcPts val="1600"/>
              </a:spcAft>
            </a:pPr>
            <a:r>
              <a:rPr sz="1600" b="0" i="0">
                <a:solidFill>
                  <a:srgbClr val="1E1E1E"/>
                </a:solidFill>
                <a:latin typeface="Times New Roman"/>
              </a:rPr>
              <a:t>elapsed = accumulated + (now - runningSince)</a:t>
            </a:r>
            <a:br/>
            <a:r>
              <a:rPr sz="1600" b="0" i="0">
                <a:solidFill>
                  <a:srgbClr val="1E1E1E"/>
                </a:solidFill>
                <a:latin typeface="Times New Roman"/>
              </a:rPr>
              <a:t>Trong đó accumulated là tổng thời gian các đoạn trước, runningSince là mốc bắt đầu đoạn hiện tại. Tick chỉ là tín hiệu đọc lại giờ.</a:t>
            </a:r>
          </a:p>
          <a:p>
            <a:pPr algn="l">
              <a:spcBef>
                <a:spcPts val="0"/>
              </a:spcBef>
              <a:spcAft>
                <a:spcPts val="400"/>
              </a:spcAft>
            </a:pPr>
            <a:r>
              <a:rPr sz="1800" b="1" i="0">
                <a:solidFill>
                  <a:srgbClr val="14233C"/>
                </a:solidFill>
                <a:latin typeface="Times New Roman"/>
              </a:rPr>
              <a:t>Nguồn thời gian kép (Dual Time Sources)</a:t>
            </a:r>
          </a:p>
          <a:p>
            <a:pPr algn="l">
              <a:spcBef>
                <a:spcPts val="0"/>
              </a:spcBef>
              <a:spcAft>
                <a:spcPts val="1600"/>
              </a:spcAft>
            </a:pPr>
            <a:r>
              <a:rPr sz="1600" b="0" i="0">
                <a:solidFill>
                  <a:srgbClr val="1E1E1E"/>
                </a:solidFill>
                <a:latin typeface="Times New Roman"/>
              </a:rPr>
              <a:t>• Trong phiên chạy: Dùng đồng hồ đơn điệu Stopwatch (không bị giật khi user/NTP chỉnh giờ hệ thống).</a:t>
            </a:r>
            <a:br/>
            <a:r>
              <a:rPr sz="1600" b="0" i="0">
                <a:solidFill>
                  <a:srgbClr val="1E1E1E"/>
                </a:solidFill>
                <a:latin typeface="Times New Roman"/>
              </a:rPr>
              <a:t>• Giờ hệ thống UTC: Lưu mốc để tự bù thời gian khi máy vào chế độ ngủ (Sleep mode) hoặc mở lại app.</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lib/core/models/stopwatch_task.dart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24292F"/>
                </a:solidFill>
                <a:latin typeface="Consolas"/>
              </a:rPr>
              <a:t>Duration elapsedAt(DateTime now) {</a:t>
            </a:r>
          </a:p>
          <a:p>
            <a:pPr algn="l">
              <a:spcBef>
                <a:spcPts val="0"/>
              </a:spcBef>
              <a:spcAft>
                <a:spcPts val="200"/>
              </a:spcAft>
            </a:pPr>
            <a:r>
              <a:rPr sz="1100" b="0" i="0">
                <a:solidFill>
                  <a:srgbClr val="24292F"/>
                </a:solidFill>
                <a:latin typeface="Consolas"/>
              </a:rPr>
              <a:t>  final since = runningSince;</a:t>
            </a:r>
          </a:p>
          <a:p>
            <a:pPr algn="l">
              <a:spcBef>
                <a:spcPts val="0"/>
              </a:spcBef>
              <a:spcAft>
                <a:spcPts val="200"/>
              </a:spcAft>
            </a:pPr>
            <a:r>
              <a:rPr sz="1100" b="0" i="0">
                <a:solidFill>
                  <a:srgbClr val="24292F"/>
                </a:solidFill>
                <a:latin typeface="Consolas"/>
              </a:rPr>
              <a:t>  if (since == null) return accumulated;</a:t>
            </a:r>
          </a:p>
          <a:p>
            <a:pPr algn="l">
              <a:spcBef>
                <a:spcPts val="0"/>
              </a:spcBef>
              <a:spcAft>
                <a:spcPts val="200"/>
              </a:spcAft>
            </a:pPr>
          </a:p>
          <a:p>
            <a:pPr algn="l">
              <a:spcBef>
                <a:spcPts val="0"/>
              </a:spcBef>
              <a:spcAft>
                <a:spcPts val="200"/>
              </a:spcAft>
            </a:pPr>
            <a:r>
              <a:rPr sz="1100" b="0" i="0">
                <a:solidFill>
                  <a:srgbClr val="5A5F69"/>
                </a:solidFill>
                <a:latin typeface="Consolas"/>
              </a:rPr>
              <a:t>  // Tính khoảng cách từ mốc bắt đầu đến hiện tại</a:t>
            </a:r>
          </a:p>
          <a:p>
            <a:pPr algn="l">
              <a:spcBef>
                <a:spcPts val="0"/>
              </a:spcBef>
              <a:spcAft>
                <a:spcPts val="200"/>
              </a:spcAft>
            </a:pPr>
            <a:r>
              <a:rPr sz="1100" b="0" i="0">
                <a:solidFill>
                  <a:srgbClr val="24292F"/>
                </a:solidFill>
                <a:latin typeface="Consolas"/>
              </a:rPr>
              <a:t>  final segment = now.difference(since);</a:t>
            </a:r>
          </a:p>
          <a:p>
            <a:pPr algn="l">
              <a:spcBef>
                <a:spcPts val="0"/>
              </a:spcBef>
              <a:spcAft>
                <a:spcPts val="200"/>
              </a:spcAft>
            </a:pPr>
            <a:r>
              <a:rPr sz="1100" b="0" i="0">
                <a:solidFill>
                  <a:srgbClr val="24292F"/>
                </a:solidFill>
                <a:latin typeface="Consolas"/>
              </a:rPr>
              <a:t>  return segment.isNegative </a:t>
            </a:r>
          </a:p>
          <a:p>
            <a:pPr algn="l">
              <a:spcBef>
                <a:spcPts val="0"/>
              </a:spcBef>
              <a:spcAft>
                <a:spcPts val="200"/>
              </a:spcAft>
            </a:pPr>
            <a:r>
              <a:rPr sz="1100" b="0" i="0">
                <a:solidFill>
                  <a:srgbClr val="24292F"/>
                </a:solidFill>
                <a:latin typeface="Consolas"/>
              </a:rPr>
              <a:t>      ? accumulated </a:t>
            </a:r>
          </a:p>
          <a:p>
            <a:pPr algn="l">
              <a:spcBef>
                <a:spcPts val="0"/>
              </a:spcBef>
              <a:spcAft>
                <a:spcPts val="200"/>
              </a:spcAft>
            </a:pPr>
            <a:r>
              <a:rPr sz="1100" b="0" i="0">
                <a:solidFill>
                  <a:srgbClr val="24292F"/>
                </a:solidFill>
                <a:latin typeface="Consolas"/>
              </a:rPr>
              <a:t>      : accumulated + segment;</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Tick chỉ là thời điểm 'đọc lại'. Giá trị luôn tính từ đồng hồ thực nên không bao giờ bị trôi dù Timer có bị trễ.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TỐI ƯU HÓA TÀI NGUYÊN &amp; BROADCAST STREAM</a:t>
            </a:r>
          </a:p>
          <a:p>
            <a:pPr algn="l">
              <a:spcBef>
                <a:spcPts val="0"/>
              </a:spcBef>
              <a:spcAft>
                <a:spcPts val="0"/>
              </a:spcAft>
            </a:pPr>
            <a:r>
              <a:rPr sz="2600" b="1" i="0">
                <a:solidFill>
                  <a:srgbClr val="14233C"/>
                </a:solidFill>
                <a:latin typeface="Times New Roman"/>
              </a:rPr>
              <a:t>NGUỒN NHỊP DÙNG CHUNG: LAZY TICKSOURCE</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Vấn đề khi mỗi đồng hồ tạo 1 Timer riêng</a:t>
            </a:r>
          </a:p>
          <a:p>
            <a:pPr algn="l">
              <a:spcBef>
                <a:spcPts val="0"/>
              </a:spcBef>
              <a:spcAft>
                <a:spcPts val="1800"/>
              </a:spcAft>
            </a:pPr>
            <a:r>
              <a:rPr sz="1600" b="0" i="0">
                <a:solidFill>
                  <a:srgbClr val="1E1E1E"/>
                </a:solidFill>
                <a:latin typeface="Times New Roman"/>
              </a:rPr>
              <a:t>10 đồng hồ chạy song song sẽ tạo ra 10 Timer định kỳ riêng biệt -&gt; Lãng phí CPU, tốn pin và các nhịp cập nhật bị lệch pha nhau.</a:t>
            </a:r>
          </a:p>
          <a:p>
            <a:pPr algn="l">
              <a:spcBef>
                <a:spcPts val="0"/>
              </a:spcBef>
              <a:spcAft>
                <a:spcPts val="400"/>
              </a:spcAft>
            </a:pPr>
            <a:r>
              <a:rPr sz="1800" b="1" i="0">
                <a:solidFill>
                  <a:srgbClr val="14233C"/>
                </a:solidFill>
                <a:latin typeface="Times New Roman"/>
              </a:rPr>
              <a:t>Duy nhất 1 Timer 33ms (~30fps) cho toàn app</a:t>
            </a:r>
          </a:p>
          <a:p>
            <a:pPr algn="l">
              <a:spcBef>
                <a:spcPts val="0"/>
              </a:spcBef>
              <a:spcAft>
                <a:spcPts val="1800"/>
              </a:spcAft>
            </a:pPr>
            <a:r>
              <a:rPr sz="1600" b="0" i="0">
                <a:solidFill>
                  <a:srgbClr val="1E1E1E"/>
                </a:solidFill>
                <a:latin typeface="Times New Roman"/>
              </a:rPr>
              <a:t>Toàn bộ ứng dụng dùng chung 1 nguồn nhịp phát qua StreamController.broadcast. Nhịp 33ms đủ mượt để mắt người nhìn thấy phần trăm giây.</a:t>
            </a:r>
          </a:p>
          <a:p>
            <a:pPr algn="l">
              <a:spcBef>
                <a:spcPts val="0"/>
              </a:spcBef>
              <a:spcAft>
                <a:spcPts val="400"/>
              </a:spcAft>
            </a:pPr>
            <a:r>
              <a:rPr sz="1800" b="1" i="0">
                <a:solidFill>
                  <a:srgbClr val="14233C"/>
                </a:solidFill>
                <a:latin typeface="Times New Roman"/>
              </a:rPr>
              <a:t>Cơ chế chạy lười (Lazy Evaluation)</a:t>
            </a:r>
          </a:p>
          <a:p>
            <a:pPr algn="l">
              <a:spcBef>
                <a:spcPts val="0"/>
              </a:spcBef>
              <a:spcAft>
                <a:spcPts val="1800"/>
              </a:spcAft>
            </a:pPr>
            <a:r>
              <a:rPr sz="1600" b="0" i="0">
                <a:solidFill>
                  <a:srgbClr val="1E1E1E"/>
                </a:solidFill>
                <a:latin typeface="Times New Roman"/>
              </a:rPr>
              <a:t>Lợi dụng trực tiếp 2 callback onListen và onCancel của broadcast stream:</a:t>
            </a:r>
            <a:br/>
            <a:r>
              <a:rPr sz="1600" b="0" i="0">
                <a:solidFill>
                  <a:srgbClr val="1E1E1E"/>
                </a:solidFill>
                <a:latin typeface="Times New Roman"/>
              </a:rPr>
              <a:t>• Có ít nhất 1 listener: Tự động khởi động Timer.periodic.</a:t>
            </a:r>
            <a:br/>
            <a:r>
              <a:rPr sz="1600" b="0" i="0">
                <a:solidFill>
                  <a:srgbClr val="1E1E1E"/>
                </a:solidFill>
                <a:latin typeface="Times New Roman"/>
              </a:rPr>
              <a:t>• Hết listener (0 listener): Tự động cancel Timer ngay lập tức.</a:t>
            </a:r>
            <a:br/>
            <a:r>
              <a:rPr sz="1600" b="0" i="0">
                <a:solidFill>
                  <a:srgbClr val="1E1E1E"/>
                </a:solidFill>
                <a:latin typeface="Times New Roman"/>
              </a:rPr>
              <a:t>• Tiết kiệm 100% CPU khi không có ai nhìn đồng hồ.</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lib/core/ticker/tick_source.dart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24292F"/>
                </a:solidFill>
                <a:latin typeface="Consolas"/>
              </a:rPr>
              <a:t>late final _controller = StreamController&lt;int&gt;.broadcast(</a:t>
            </a:r>
          </a:p>
          <a:p>
            <a:pPr algn="l">
              <a:spcBef>
                <a:spcPts val="0"/>
              </a:spcBef>
              <a:spcAft>
                <a:spcPts val="200"/>
              </a:spcAft>
            </a:pPr>
            <a:r>
              <a:rPr sz="1100" b="0" i="0">
                <a:solidFill>
                  <a:srgbClr val="24292F"/>
                </a:solidFill>
                <a:latin typeface="Consolas"/>
              </a:rPr>
              <a:t>  onListen: _startTimer, // Bật Timer khi có listener</a:t>
            </a:r>
          </a:p>
          <a:p>
            <a:pPr algn="l">
              <a:spcBef>
                <a:spcPts val="0"/>
              </a:spcBef>
              <a:spcAft>
                <a:spcPts val="200"/>
              </a:spcAft>
            </a:pPr>
            <a:r>
              <a:rPr sz="1100" b="0" i="0">
                <a:solidFill>
                  <a:srgbClr val="24292F"/>
                </a:solidFill>
                <a:latin typeface="Consolas"/>
              </a:rPr>
              <a:t>  onCancel: _stopTimer,  // Tắt Timer khi hết listener</a:t>
            </a:r>
          </a:p>
          <a:p>
            <a:pPr algn="l">
              <a:spcBef>
                <a:spcPts val="0"/>
              </a:spcBef>
              <a:spcAft>
                <a:spcPts val="200"/>
              </a:spcAft>
            </a:pPr>
            <a:r>
              <a:rPr sz="1100" b="0" i="0">
                <a:solidFill>
                  <a:srgbClr val="24292F"/>
                </a:solidFill>
                <a:latin typeface="Consolas"/>
              </a:rPr>
              <a:t>);</a:t>
            </a:r>
          </a:p>
          <a:p>
            <a:pPr algn="l">
              <a:spcBef>
                <a:spcPts val="0"/>
              </a:spcBef>
              <a:spcAft>
                <a:spcPts val="200"/>
              </a:spcAft>
            </a:pPr>
          </a:p>
          <a:p>
            <a:pPr algn="l">
              <a:spcBef>
                <a:spcPts val="0"/>
              </a:spcBef>
              <a:spcAft>
                <a:spcPts val="200"/>
              </a:spcAft>
            </a:pPr>
            <a:r>
              <a:rPr sz="1100" b="0" i="0">
                <a:solidFill>
                  <a:srgbClr val="24292F"/>
                </a:solidFill>
                <a:latin typeface="Consolas"/>
              </a:rPr>
              <a:t>void _startTimer() {</a:t>
            </a:r>
          </a:p>
          <a:p>
            <a:pPr algn="l">
              <a:spcBef>
                <a:spcPts val="0"/>
              </a:spcBef>
              <a:spcAft>
                <a:spcPts val="200"/>
              </a:spcAft>
            </a:pPr>
            <a:r>
              <a:rPr sz="1100" b="0" i="0">
                <a:solidFill>
                  <a:srgbClr val="24292F"/>
                </a:solidFill>
                <a:latin typeface="Consolas"/>
              </a:rPr>
              <a:t>  _timer ??= Timer.periodic(interval, </a:t>
            </a:r>
          </a:p>
          <a:p>
            <a:pPr algn="l">
              <a:spcBef>
                <a:spcPts val="0"/>
              </a:spcBef>
              <a:spcAft>
                <a:spcPts val="200"/>
              </a:spcAft>
            </a:pPr>
            <a:r>
              <a:rPr sz="1100" b="0" i="0">
                <a:solidFill>
                  <a:srgbClr val="24292F"/>
                </a:solidFill>
                <a:latin typeface="Consolas"/>
              </a:rPr>
              <a:t>      (timer) =&gt; _controller.add(timer.tick));</a:t>
            </a:r>
          </a:p>
          <a:p>
            <a:pPr algn="l">
              <a:spcBef>
                <a:spcPts val="0"/>
              </a:spcBef>
              <a:spcAft>
                <a:spcPts val="200"/>
              </a:spcAft>
            </a:pPr>
            <a:r>
              <a:rPr sz="1100" b="0" i="0">
                <a:solidFill>
                  <a:srgbClr val="24292F"/>
                </a:solidFill>
                <a:latin typeface="Consolas"/>
              </a:rPr>
              <a:t>}</a:t>
            </a:r>
          </a:p>
          <a:p>
            <a:pPr algn="l">
              <a:spcBef>
                <a:spcPts val="0"/>
              </a:spcBef>
              <a:spcAft>
                <a:spcPts val="200"/>
              </a:spcAft>
            </a:pPr>
          </a:p>
          <a:p>
            <a:pPr algn="l">
              <a:spcBef>
                <a:spcPts val="0"/>
              </a:spcBef>
              <a:spcAft>
                <a:spcPts val="200"/>
              </a:spcAft>
            </a:pPr>
            <a:r>
              <a:rPr sz="1100" b="0" i="0">
                <a:solidFill>
                  <a:srgbClr val="24292F"/>
                </a:solidFill>
                <a:latin typeface="Consolas"/>
              </a:rPr>
              <a:t>void _stopTimer() {</a:t>
            </a:r>
          </a:p>
          <a:p>
            <a:pPr algn="l">
              <a:spcBef>
                <a:spcPts val="0"/>
              </a:spcBef>
              <a:spcAft>
                <a:spcPts val="200"/>
              </a:spcAft>
            </a:pPr>
            <a:r>
              <a:rPr sz="1100" b="0" i="0">
                <a:solidFill>
                  <a:srgbClr val="24292F"/>
                </a:solidFill>
                <a:latin typeface="Consolas"/>
              </a:rPr>
              <a:t>  _timer?.cancel();</a:t>
            </a:r>
          </a:p>
          <a:p>
            <a:pPr algn="l">
              <a:spcBef>
                <a:spcPts val="0"/>
              </a:spcBef>
              <a:spcAft>
                <a:spcPts val="200"/>
              </a:spcAft>
            </a:pPr>
            <a:r>
              <a:rPr sz="1100" b="0" i="0">
                <a:solidFill>
                  <a:srgbClr val="24292F"/>
                </a:solidFill>
                <a:latin typeface="Consolas"/>
              </a:rPr>
              <a:t>  _timer = null;</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Timer chỉ tồn tại khi thực sự có người lắng nghe; tự hủy ngay khi số listener về 0, giúp app không chạy ngầm hao pin.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XỬ LÝ DÒNG DỮ LIỆU CẤP SÂU (THUẦN DART)</a:t>
            </a:r>
          </a:p>
          <a:p>
            <a:pPr algn="l">
              <a:spcBef>
                <a:spcPts val="0"/>
              </a:spcBef>
              <a:spcAft>
                <a:spcPts val="0"/>
              </a:spcAft>
            </a:pPr>
            <a:r>
              <a:rPr sz="2600" b="1" i="0">
                <a:solidFill>
                  <a:srgbClr val="14233C"/>
                </a:solidFill>
                <a:latin typeface="Times New Roman"/>
              </a:rPr>
              <a:t>STREAM TRANSFORMERS THUẦN DART</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Tự viết bằng Dart thuần túy</a:t>
            </a:r>
          </a:p>
          <a:p>
            <a:pPr algn="l">
              <a:spcBef>
                <a:spcPts val="0"/>
              </a:spcBef>
              <a:spcAft>
                <a:spcPts val="1400"/>
              </a:spcAft>
            </a:pPr>
            <a:r>
              <a:rPr sz="1600" b="0" i="0">
                <a:solidFill>
                  <a:srgbClr val="1E1E1E"/>
                </a:solidFill>
                <a:latin typeface="Times New Roman"/>
              </a:rPr>
              <a:t>Kế thừa trực tiếp StreamTransformerBase của Dart SDK, tuyệt đối không dùng thư viện rxdart bên ngoài.</a:t>
            </a:r>
          </a:p>
          <a:p>
            <a:pPr algn="l">
              <a:spcBef>
                <a:spcPts val="0"/>
              </a:spcBef>
              <a:spcAft>
                <a:spcPts val="400"/>
              </a:spcAft>
            </a:pPr>
            <a:r>
              <a:rPr sz="1800" b="1" i="0">
                <a:solidFill>
                  <a:srgbClr val="14233C"/>
                </a:solidFill>
                <a:latin typeface="Times New Roman"/>
              </a:rPr>
              <a:t>ThrottleTransformer (kèm cờ trailing: true)</a:t>
            </a:r>
          </a:p>
          <a:p>
            <a:pPr algn="l">
              <a:spcBef>
                <a:spcPts val="0"/>
              </a:spcBef>
              <a:spcAft>
                <a:spcPts val="1400"/>
              </a:spcAft>
            </a:pPr>
            <a:r>
              <a:rPr sz="1600" b="0" i="0">
                <a:solidFill>
                  <a:srgbClr val="1E1E1E"/>
                </a:solidFill>
                <a:latin typeface="Times New Roman"/>
              </a:rPr>
              <a:t>• Phát ngay sự kiện đầu tiên, rồi 'đóng cửa sổ' trong duration.</a:t>
            </a:r>
            <a:br/>
            <a:r>
              <a:rPr sz="1600" b="0" i="0">
                <a:solidFill>
                  <a:srgbClr val="1E1E1E"/>
                </a:solidFill>
                <a:latin typeface="Times New Roman"/>
              </a:rPr>
              <a:t>• Cờ trailing: Giữ lại sự kiện cuối cùng bị chặn để phát ngay khi đóng cửa sổ -&gt; Không bao giờ bị mất frame cuối cùng khi bấm Pause hoặc Reset.</a:t>
            </a:r>
          </a:p>
          <a:p>
            <a:pPr algn="l">
              <a:spcBef>
                <a:spcPts val="0"/>
              </a:spcBef>
              <a:spcAft>
                <a:spcPts val="400"/>
              </a:spcAft>
            </a:pPr>
            <a:r>
              <a:rPr sz="1800" b="1" i="0">
                <a:solidFill>
                  <a:srgbClr val="14233C"/>
                </a:solidFill>
                <a:latin typeface="Times New Roman"/>
              </a:rPr>
              <a:t>DebounceTransformer</a:t>
            </a:r>
          </a:p>
          <a:p>
            <a:pPr algn="l">
              <a:spcBef>
                <a:spcPts val="0"/>
              </a:spcBef>
              <a:spcAft>
                <a:spcPts val="1400"/>
              </a:spcAft>
            </a:pPr>
            <a:r>
              <a:rPr sz="1600" b="0" i="0">
                <a:solidFill>
                  <a:srgbClr val="1E1E1E"/>
                </a:solidFill>
                <a:latin typeface="Times New Roman"/>
              </a:rPr>
              <a:t>• Đặt lại thời gian chờ sau mỗi sự kiện, chỉ phát khi nguồn đã im lặng đủ duration.</a:t>
            </a:r>
            <a:br/>
            <a:r>
              <a:rPr sz="1600" b="0" i="0">
                <a:solidFill>
                  <a:srgbClr val="1E1E1E"/>
                </a:solidFill>
                <a:latin typeface="Times New Roman"/>
              </a:rPr>
              <a:t>• Ứng dụng: Ô tìm kiếm tên đồng hồ (300ms) -&gt; Chờ người dùng gõ xong mới lọc danh sách, không truy vấn theo từng phím.</a:t>
            </a:r>
          </a:p>
          <a:p>
            <a:pPr algn="l">
              <a:spcBef>
                <a:spcPts val="0"/>
              </a:spcBef>
              <a:spcAft>
                <a:spcPts val="400"/>
              </a:spcAft>
            </a:pPr>
            <a:r>
              <a:rPr sz="1800" b="1" i="0">
                <a:solidFill>
                  <a:srgbClr val="14233C"/>
                </a:solidFill>
                <a:latin typeface="Times New Roman"/>
              </a:rPr>
              <a:t>Quản lý vòng đời trọn vẹn</a:t>
            </a:r>
          </a:p>
          <a:p>
            <a:pPr algn="l">
              <a:spcBef>
                <a:spcPts val="0"/>
              </a:spcBef>
              <a:spcAft>
                <a:spcPts val="1400"/>
              </a:spcAft>
            </a:pPr>
            <a:r>
              <a:rPr sz="1600" b="0" i="0">
                <a:solidFill>
                  <a:srgbClr val="1E1E1E"/>
                </a:solidFill>
                <a:latin typeface="Times New Roman"/>
              </a:rPr>
              <a:t>Pause/resume lan ngược về nguồn; khi stream done thì xả hết sự kiện pending rồi mới đóng controller an toàn.</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lib/core/transformers/rate_limit.dart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24292F"/>
                </a:solidFill>
                <a:latin typeface="Consolas"/>
              </a:rPr>
              <a:t>void onData(T event, EventSink&lt;T&gt; sink) {</a:t>
            </a:r>
          </a:p>
          <a:p>
            <a:pPr algn="l">
              <a:spcBef>
                <a:spcPts val="0"/>
              </a:spcBef>
              <a:spcAft>
                <a:spcPts val="200"/>
              </a:spcAft>
            </a:pPr>
            <a:r>
              <a:rPr sz="1100" b="0" i="0">
                <a:solidFill>
                  <a:srgbClr val="24292F"/>
                </a:solidFill>
                <a:latin typeface="Consolas"/>
              </a:rPr>
              <a:t>  if (_window == null) {</a:t>
            </a:r>
          </a:p>
          <a:p>
            <a:pPr algn="l">
              <a:spcBef>
                <a:spcPts val="0"/>
              </a:spcBef>
              <a:spcAft>
                <a:spcPts val="200"/>
              </a:spcAft>
            </a:pPr>
            <a:r>
              <a:rPr sz="1100" b="0" i="0">
                <a:solidFill>
                  <a:srgbClr val="24292F"/>
                </a:solidFill>
                <a:latin typeface="Consolas"/>
              </a:rPr>
              <a:t>    sink.add(event);</a:t>
            </a:r>
          </a:p>
          <a:p>
            <a:pPr algn="l">
              <a:spcBef>
                <a:spcPts val="0"/>
              </a:spcBef>
              <a:spcAft>
                <a:spcPts val="200"/>
              </a:spcAft>
            </a:pPr>
            <a:r>
              <a:rPr sz="1100" b="0" i="0">
                <a:solidFill>
                  <a:srgbClr val="24292F"/>
                </a:solidFill>
                <a:latin typeface="Consolas"/>
              </a:rPr>
              <a:t>    _openWindow(sink);</a:t>
            </a:r>
          </a:p>
          <a:p>
            <a:pPr algn="l">
              <a:spcBef>
                <a:spcPts val="0"/>
              </a:spcBef>
              <a:spcAft>
                <a:spcPts val="200"/>
              </a:spcAft>
            </a:pPr>
            <a:r>
              <a:rPr sz="1100" b="0" i="0">
                <a:solidFill>
                  <a:srgbClr val="24292F"/>
                </a:solidFill>
                <a:latin typeface="Consolas"/>
              </a:rPr>
              <a:t>  } else if (_trailing) {</a:t>
            </a:r>
          </a:p>
          <a:p>
            <a:pPr algn="l">
              <a:spcBef>
                <a:spcPts val="0"/>
              </a:spcBef>
              <a:spcAft>
                <a:spcPts val="200"/>
              </a:spcAft>
            </a:pPr>
            <a:r>
              <a:rPr sz="1100" b="0" i="0">
                <a:solidFill>
                  <a:srgbClr val="24292F"/>
                </a:solidFill>
                <a:latin typeface="Consolas"/>
              </a:rPr>
              <a:t>    _hasTrailing = true;</a:t>
            </a:r>
          </a:p>
          <a:p>
            <a:pPr algn="l">
              <a:spcBef>
                <a:spcPts val="0"/>
              </a:spcBef>
              <a:spcAft>
                <a:spcPts val="200"/>
              </a:spcAft>
            </a:pPr>
            <a:r>
              <a:rPr sz="1100" b="0" i="0">
                <a:solidFill>
                  <a:srgbClr val="24292F"/>
                </a:solidFill>
                <a:latin typeface="Consolas"/>
              </a:rPr>
              <a:t>    _trailingEvent = event; // Lưu frame cuối</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a:t>
            </a:r>
          </a:p>
          <a:p>
            <a:pPr algn="l">
              <a:spcBef>
                <a:spcPts val="0"/>
              </a:spcBef>
              <a:spcAft>
                <a:spcPts val="200"/>
              </a:spcAft>
            </a:pPr>
          </a:p>
          <a:p>
            <a:pPr algn="l">
              <a:spcBef>
                <a:spcPts val="0"/>
              </a:spcBef>
              <a:spcAft>
                <a:spcPts val="200"/>
              </a:spcAft>
            </a:pPr>
            <a:r>
              <a:rPr sz="1100" b="0" i="0">
                <a:solidFill>
                  <a:srgbClr val="24292F"/>
                </a:solidFill>
                <a:latin typeface="Consolas"/>
              </a:rPr>
              <a:t>void _openWindow(EventSink&lt;T&gt; sink) {</a:t>
            </a:r>
          </a:p>
          <a:p>
            <a:pPr algn="l">
              <a:spcBef>
                <a:spcPts val="0"/>
              </a:spcBef>
              <a:spcAft>
                <a:spcPts val="200"/>
              </a:spcAft>
            </a:pPr>
            <a:r>
              <a:rPr sz="1100" b="0" i="0">
                <a:solidFill>
                  <a:srgbClr val="24292F"/>
                </a:solidFill>
                <a:latin typeface="Consolas"/>
              </a:rPr>
              <a:t>  _window = Timer(_duration, () {</a:t>
            </a:r>
          </a:p>
          <a:p>
            <a:pPr algn="l">
              <a:spcBef>
                <a:spcPts val="0"/>
              </a:spcBef>
              <a:spcAft>
                <a:spcPts val="200"/>
              </a:spcAft>
            </a:pPr>
            <a:r>
              <a:rPr sz="1100" b="0" i="0">
                <a:solidFill>
                  <a:srgbClr val="24292F"/>
                </a:solidFill>
                <a:latin typeface="Consolas"/>
              </a:rPr>
              <a:t>    _window = null;</a:t>
            </a:r>
          </a:p>
          <a:p>
            <a:pPr algn="l">
              <a:spcBef>
                <a:spcPts val="0"/>
              </a:spcBef>
              <a:spcAft>
                <a:spcPts val="200"/>
              </a:spcAft>
            </a:pPr>
            <a:r>
              <a:rPr sz="1100" b="0" i="0">
                <a:solidFill>
                  <a:srgbClr val="24292F"/>
                </a:solidFill>
                <a:latin typeface="Consolas"/>
              </a:rPr>
              <a:t>    if (_takeTrailing(sink)) _openWindow(sink);</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Cờ trailing bảo toàn frame thời gian cuối cùng khi bấm dừng; Debounce trì hoãn 300ms lọc mượt mà không lag.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REPOSITORY PATTERN &amp; TRANSACTION ROLLBACK</a:t>
            </a:r>
          </a:p>
          <a:p>
            <a:pPr algn="l">
              <a:spcBef>
                <a:spcPts val="0"/>
              </a:spcBef>
              <a:spcAft>
                <a:spcPts val="0"/>
              </a:spcAft>
            </a:pPr>
            <a:r>
              <a:rPr sz="2600" b="1" i="0">
                <a:solidFill>
                  <a:srgbClr val="14233C"/>
                </a:solidFill>
                <a:latin typeface="Times New Roman"/>
              </a:rPr>
              <a:t>TẦNG LƯU TRỮ VÀ KHẢ NĂNG CHỊU LỖI</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Thiết kế theo Repository Pattern</a:t>
            </a:r>
          </a:p>
          <a:p>
            <a:pPr algn="l">
              <a:spcBef>
                <a:spcPts val="0"/>
              </a:spcBef>
              <a:spcAft>
                <a:spcPts val="1400"/>
              </a:spcAft>
            </a:pPr>
            <a:r>
              <a:rPr sz="1600" b="0" i="0">
                <a:solidFill>
                  <a:srgbClr val="1E1E1E"/>
                </a:solidFill>
                <a:latin typeface="Times New Roman"/>
              </a:rPr>
              <a:t>Interface TaskRepository trừu tượng hóa toàn bộ thao tác nạp/lưu dữ liệu (loadAll, upsert, delete, replaceAll).</a:t>
            </a:r>
          </a:p>
          <a:p>
            <a:pPr algn="l">
              <a:spcBef>
                <a:spcPts val="0"/>
              </a:spcBef>
              <a:spcAft>
                <a:spcPts val="400"/>
              </a:spcAft>
            </a:pPr>
            <a:r>
              <a:rPr sz="1800" b="1" i="0">
                <a:solidFill>
                  <a:srgbClr val="14233C"/>
                </a:solidFill>
                <a:latin typeface="Times New Roman"/>
              </a:rPr>
              <a:t>Đa dạng môi trường lưu trữ</a:t>
            </a:r>
          </a:p>
          <a:p>
            <a:pPr algn="l">
              <a:spcBef>
                <a:spcPts val="0"/>
              </a:spcBef>
              <a:spcAft>
                <a:spcPts val="1400"/>
              </a:spcAft>
            </a:pPr>
            <a:r>
              <a:rPr sz="1600" b="0" i="0">
                <a:solidFill>
                  <a:srgbClr val="1E1E1E"/>
                </a:solidFill>
                <a:latin typeface="Times New Roman"/>
              </a:rPr>
              <a:t>• LocalTaskRepository: Lưu SharedPreferences với format JSON có versioning (version: 1). Tự bù thời gian khi mở lại app.</a:t>
            </a:r>
            <a:br/>
            <a:r>
              <a:rPr sz="1600" b="0" i="0">
                <a:solidFill>
                  <a:srgbClr val="1E1E1E"/>
                </a:solidFill>
                <a:latin typeface="Times New Roman"/>
              </a:rPr>
              <a:t>• InMemoryTaskRepository: Giả lập độ trễ mạng và tỷ lệ lỗi ngẫu nhiên để phục vụ kiểm thử.</a:t>
            </a:r>
          </a:p>
          <a:p>
            <a:pPr algn="l">
              <a:spcBef>
                <a:spcPts val="0"/>
              </a:spcBef>
              <a:spcAft>
                <a:spcPts val="400"/>
              </a:spcAft>
            </a:pPr>
            <a:r>
              <a:rPr sz="1800" b="1" i="0">
                <a:solidFill>
                  <a:srgbClr val="14233C"/>
                </a:solidFill>
                <a:latin typeface="Times New Roman"/>
              </a:rPr>
              <a:t>RetryingTaskRepository (Decorator Pattern)</a:t>
            </a:r>
          </a:p>
          <a:p>
            <a:pPr algn="l">
              <a:spcBef>
                <a:spcPts val="0"/>
              </a:spcBef>
              <a:spcAft>
                <a:spcPts val="1400"/>
              </a:spcAft>
            </a:pPr>
            <a:r>
              <a:rPr sz="1600" b="0" i="0">
                <a:solidFill>
                  <a:srgbClr val="1E1E1E"/>
                </a:solidFill>
                <a:latin typeface="Times New Roman"/>
              </a:rPr>
              <a:t>Tự động thử lại khi gặp StorageException với thời gian chờ tăng dần theo cấp số nhân (Exponential backoff: 200ms, 400ms...).</a:t>
            </a:r>
          </a:p>
          <a:p>
            <a:pPr algn="l">
              <a:spcBef>
                <a:spcPts val="0"/>
              </a:spcBef>
              <a:spcAft>
                <a:spcPts val="400"/>
              </a:spcAft>
            </a:pPr>
            <a:r>
              <a:rPr sz="1800" b="1" i="0">
                <a:solidFill>
                  <a:srgbClr val="14233C"/>
                </a:solidFill>
                <a:latin typeface="Times New Roman"/>
              </a:rPr>
              <a:t>Xếp hàng tuần tự &amp; Tự động Rollback</a:t>
            </a:r>
          </a:p>
          <a:p>
            <a:pPr algn="l">
              <a:spcBef>
                <a:spcPts val="0"/>
              </a:spcBef>
              <a:spcAft>
                <a:spcPts val="1400"/>
              </a:spcAft>
            </a:pPr>
            <a:r>
              <a:rPr sz="1600" b="0" i="0">
                <a:solidFill>
                  <a:srgbClr val="1E1E1E"/>
                </a:solidFill>
                <a:latin typeface="Times New Roman"/>
              </a:rPr>
              <a:t>Mọi thao tác thay đổi trạng thái được tuần tự hóa tránh Race Condition. Nếu lưu ổ đĩa thất bại, trạng thái trong RAM lập tức được hoàn tác về trước đó.</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lib/core/storage/retrying_task_repository.dart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5A5F69"/>
                </a:solidFill>
                <a:latin typeface="Consolas"/>
              </a:rPr>
              <a:t>// RetryingTaskRepository: Thử lại với delay tăng dần</a:t>
            </a:r>
          </a:p>
          <a:p>
            <a:pPr algn="l">
              <a:spcBef>
                <a:spcPts val="0"/>
              </a:spcBef>
              <a:spcAft>
                <a:spcPts val="200"/>
              </a:spcAft>
            </a:pPr>
            <a:r>
              <a:rPr sz="1100" b="0" i="0">
                <a:solidFill>
                  <a:srgbClr val="14233C"/>
                </a:solidFill>
                <a:latin typeface="Consolas"/>
              </a:rPr>
              <a:t>Future&lt;T&gt; _retry&lt;T&gt;(Future&lt;T&gt; Function() action) async {</a:t>
            </a:r>
          </a:p>
          <a:p>
            <a:pPr algn="l">
              <a:spcBef>
                <a:spcPts val="0"/>
              </a:spcBef>
              <a:spcAft>
                <a:spcPts val="200"/>
              </a:spcAft>
            </a:pPr>
            <a:r>
              <a:rPr sz="1100" b="0" i="0">
                <a:solidFill>
                  <a:srgbClr val="24292F"/>
                </a:solidFill>
                <a:latin typeface="Consolas"/>
              </a:rPr>
              <a:t>  for (var attempt = 1; ; attempt++) {</a:t>
            </a:r>
          </a:p>
          <a:p>
            <a:pPr algn="l">
              <a:spcBef>
                <a:spcPts val="0"/>
              </a:spcBef>
              <a:spcAft>
                <a:spcPts val="200"/>
              </a:spcAft>
            </a:pPr>
            <a:r>
              <a:rPr sz="1100" b="0" i="0">
                <a:solidFill>
                  <a:srgbClr val="24292F"/>
                </a:solidFill>
                <a:latin typeface="Consolas"/>
              </a:rPr>
              <a:t>    try {</a:t>
            </a:r>
          </a:p>
          <a:p>
            <a:pPr algn="l">
              <a:spcBef>
                <a:spcPts val="0"/>
              </a:spcBef>
              <a:spcAft>
                <a:spcPts val="200"/>
              </a:spcAft>
            </a:pPr>
            <a:r>
              <a:rPr sz="1100" b="0" i="0">
                <a:solidFill>
                  <a:srgbClr val="24292F"/>
                </a:solidFill>
                <a:latin typeface="Consolas"/>
              </a:rPr>
              <a:t>      return await action();</a:t>
            </a:r>
          </a:p>
          <a:p>
            <a:pPr algn="l">
              <a:spcBef>
                <a:spcPts val="0"/>
              </a:spcBef>
              <a:spcAft>
                <a:spcPts val="200"/>
              </a:spcAft>
            </a:pPr>
            <a:r>
              <a:rPr sz="1100" b="0" i="0">
                <a:solidFill>
                  <a:srgbClr val="24292F"/>
                </a:solidFill>
                <a:latin typeface="Consolas"/>
              </a:rPr>
              <a:t>    } on StorageException {</a:t>
            </a:r>
          </a:p>
          <a:p>
            <a:pPr algn="l">
              <a:spcBef>
                <a:spcPts val="0"/>
              </a:spcBef>
              <a:spcAft>
                <a:spcPts val="200"/>
              </a:spcAft>
            </a:pPr>
            <a:r>
              <a:rPr sz="1100" b="0" i="0">
                <a:solidFill>
                  <a:srgbClr val="24292F"/>
                </a:solidFill>
                <a:latin typeface="Consolas"/>
              </a:rPr>
              <a:t>      if (attempt &gt;= maxAttempts) rethrow;</a:t>
            </a:r>
          </a:p>
          <a:p>
            <a:pPr algn="l">
              <a:spcBef>
                <a:spcPts val="0"/>
              </a:spcBef>
              <a:spcAft>
                <a:spcPts val="200"/>
              </a:spcAft>
            </a:pPr>
            <a:r>
              <a:rPr sz="1100" b="0" i="0">
                <a:solidFill>
                  <a:srgbClr val="24292F"/>
                </a:solidFill>
                <a:latin typeface="Consolas"/>
              </a:rPr>
              <a:t>      final delay = initialDelay * (1 &lt;&lt; (attempt - 1));</a:t>
            </a:r>
          </a:p>
          <a:p>
            <a:pPr algn="l">
              <a:spcBef>
                <a:spcPts val="0"/>
              </a:spcBef>
              <a:spcAft>
                <a:spcPts val="200"/>
              </a:spcAft>
            </a:pPr>
            <a:r>
              <a:rPr sz="1100" b="0" i="0">
                <a:solidFill>
                  <a:srgbClr val="24292F"/>
                </a:solidFill>
                <a:latin typeface="Consolas"/>
              </a:rPr>
              <a:t>      await Future.delayed(delay);</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a:t>
            </a:r>
          </a:p>
          <a:p>
            <a:pPr algn="l">
              <a:spcBef>
                <a:spcPts val="0"/>
              </a:spcBef>
              <a:spcAft>
                <a:spcPts val="200"/>
              </a:spcAft>
            </a:pPr>
            <a:r>
              <a:rPr sz="1100" b="0" i="0">
                <a:solidFill>
                  <a:srgbClr val="5A5F69"/>
                </a:solidFill>
                <a:latin typeface="Consolas"/>
              </a:rPr>
              <a:t>// StopwatchManager: Tự động Rollback trạng thái nếu lỗi</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Tự động thử lại khi gặp lỗi lưu trữ tạm thời; hoàn tác (rollback) trạng thái nếu thất bại, bảo vệ tính toàn vẹn dữ liệu.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MINH CHỨNG HỌC THUẬT &amp; KIỂM CHỨNG KHÔNG RÒ RỈ</a:t>
            </a:r>
          </a:p>
          <a:p>
            <a:pPr algn="l">
              <a:spcBef>
                <a:spcPts val="0"/>
              </a:spcBef>
              <a:spcAft>
                <a:spcPts val="0"/>
              </a:spcAft>
            </a:pPr>
            <a:r>
              <a:rPr sz="2600" b="1" i="0">
                <a:solidFill>
                  <a:srgbClr val="14233C"/>
                </a:solidFill>
                <a:latin typeface="Times New Roman"/>
              </a:rPr>
              <a:t>STREAMTRACKER VÀ EVENT LOOP LAB</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StreamTracker – Minh chứng 0% rò rỉ bộ nhớ</a:t>
            </a:r>
          </a:p>
          <a:p>
            <a:pPr algn="l">
              <a:spcBef>
                <a:spcPts val="0"/>
              </a:spcBef>
              <a:spcAft>
                <a:spcPts val="1400"/>
              </a:spcAft>
            </a:pPr>
            <a:r>
              <a:rPr sz="1600" b="0" i="0">
                <a:solidFill>
                  <a:srgbClr val="1E1E1E"/>
                </a:solidFill>
                <a:latin typeface="Times New Roman"/>
              </a:rPr>
              <a:t>• Bọc các stream để đếm số lượng subscription đang hoạt động (activeCount) theo thời gian thực.</a:t>
            </a:r>
            <a:br/>
            <a:r>
              <a:rPr sz="1600" b="0" i="0">
                <a:solidFill>
                  <a:srgbClr val="1E1E1E"/>
                </a:solidFill>
                <a:latin typeface="Times New Roman"/>
              </a:rPr>
              <a:t>• Ghi nhận chính xác 4 loại sự kiện: LISTEN, CANCEL, DONE, DISPOSE.</a:t>
            </a:r>
            <a:br/>
            <a:r>
              <a:rPr sz="1600" b="0" i="0">
                <a:solidFill>
                  <a:srgbClr val="1E1E1E"/>
                </a:solidFill>
                <a:latin typeface="Times New Roman"/>
              </a:rPr>
              <a:t>• Minh chứng thực nghiệm: Khi đóng màn hình, activeCount luôn giảm chính xác về 0.</a:t>
            </a:r>
          </a:p>
          <a:p>
            <a:pPr algn="l">
              <a:spcBef>
                <a:spcPts val="0"/>
              </a:spcBef>
              <a:spcAft>
                <a:spcPts val="400"/>
              </a:spcAft>
            </a:pPr>
            <a:r>
              <a:rPr sz="1800" b="1" i="0">
                <a:solidFill>
                  <a:srgbClr val="14233C"/>
                </a:solidFill>
                <a:latin typeface="Times New Roman"/>
              </a:rPr>
              <a:t>EventLabRunner – Khảo sát Event Loop thực tế</a:t>
            </a:r>
          </a:p>
          <a:p>
            <a:pPr algn="l">
              <a:spcBef>
                <a:spcPts val="0"/>
              </a:spcBef>
              <a:spcAft>
                <a:spcPts val="1400"/>
              </a:spcAft>
            </a:pPr>
            <a:r>
              <a:rPr sz="1600" b="0" i="0">
                <a:solidFill>
                  <a:srgbClr val="1E1E1E"/>
                </a:solidFill>
                <a:latin typeface="Times New Roman"/>
              </a:rPr>
              <a:t>• Ứng dụng kỹ thuật Dart Zone (Zone.current.fork) để chặn và theo dõi scheduleMicrotask và createTimer.</a:t>
            </a:r>
            <a:br/>
            <a:r>
              <a:rPr sz="1600" b="0" i="0">
                <a:solidFill>
                  <a:srgbClr val="1E1E1E"/>
                </a:solidFill>
                <a:latin typeface="Times New Roman"/>
              </a:rPr>
              <a:t>• Đo đạc thứ tự thực thi thật của 6 kịch bản bất đồng bộ kinh điển:</a:t>
            </a:r>
            <a:br/>
            <a:r>
              <a:rPr sz="1600" b="0" i="0">
                <a:solidFill>
                  <a:srgbClr val="1E1E1E"/>
                </a:solidFill>
                <a:latin typeface="Times New Roman"/>
              </a:rPr>
              <a:t>  1. scheduleMicrotask vs Timer</a:t>
            </a:r>
            <a:br/>
            <a:r>
              <a:rPr sz="1600" b="0" i="0">
                <a:solidFill>
                  <a:srgbClr val="1E1E1E"/>
                </a:solidFill>
                <a:latin typeface="Times New Roman"/>
              </a:rPr>
              <a:t>  2. Các cách khởi tạo Future (sync, microtask, delayed)</a:t>
            </a:r>
            <a:br/>
            <a:r>
              <a:rPr sz="1600" b="0" i="0">
                <a:solidFill>
                  <a:srgbClr val="1E1E1E"/>
                </a:solidFill>
                <a:latin typeface="Times New Roman"/>
              </a:rPr>
              <a:t>  3. Bản chất 0ms Timer của Future.delayed(zero)</a:t>
            </a:r>
            <a:br/>
            <a:r>
              <a:rPr sz="1600" b="0" i="0">
                <a:solidFill>
                  <a:srgbClr val="1E1E1E"/>
                </a:solidFill>
                <a:latin typeface="Times New Roman"/>
              </a:rPr>
              <a:t>  4. Async gap &amp; rủi ro thay đổi state khi đang chờ Future</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lib/core/lab/event_lab_runner.dart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24292F"/>
                </a:solidFill>
                <a:latin typeface="Consolas"/>
              </a:rPr>
              <a:t>final zone = Zone.current.fork(</a:t>
            </a:r>
          </a:p>
          <a:p>
            <a:pPr algn="l">
              <a:spcBef>
                <a:spcPts val="0"/>
              </a:spcBef>
              <a:spcAft>
                <a:spcPts val="200"/>
              </a:spcAft>
            </a:pPr>
            <a:r>
              <a:rPr sz="1100" b="0" i="0">
                <a:solidFill>
                  <a:srgbClr val="24292F"/>
                </a:solidFill>
                <a:latin typeface="Consolas"/>
              </a:rPr>
              <a:t>  specification: ZoneSpecification(</a:t>
            </a:r>
          </a:p>
          <a:p>
            <a:pPr algn="l">
              <a:spcBef>
                <a:spcPts val="0"/>
              </a:spcBef>
              <a:spcAft>
                <a:spcPts val="200"/>
              </a:spcAft>
            </a:pPr>
            <a:r>
              <a:rPr sz="1100" b="0" i="0">
                <a:solidFill>
                  <a:srgbClr val="24292F"/>
                </a:solidFill>
                <a:latin typeface="Consolas"/>
              </a:rPr>
              <a:t>    scheduleMicrotask: (self, parent, zone, callback) {</a:t>
            </a:r>
          </a:p>
          <a:p>
            <a:pPr algn="l">
              <a:spcBef>
                <a:spcPts val="0"/>
              </a:spcBef>
              <a:spcAft>
                <a:spcPts val="200"/>
              </a:spcAft>
            </a:pPr>
            <a:r>
              <a:rPr sz="1100" b="0" i="0">
                <a:solidFill>
                  <a:srgbClr val="24292F"/>
                </a:solidFill>
                <a:latin typeface="Consolas"/>
              </a:rPr>
              <a:t>      pending++;</a:t>
            </a:r>
          </a:p>
          <a:p>
            <a:pPr algn="l">
              <a:spcBef>
                <a:spcPts val="0"/>
              </a:spcBef>
              <a:spcAft>
                <a:spcPts val="200"/>
              </a:spcAft>
            </a:pPr>
            <a:r>
              <a:rPr sz="1100" b="0" i="0">
                <a:solidFill>
                  <a:srgbClr val="24292F"/>
                </a:solidFill>
                <a:latin typeface="Consolas"/>
              </a:rPr>
              <a:t>      parent.scheduleMicrotask(zone, </a:t>
            </a:r>
          </a:p>
          <a:p>
            <a:pPr algn="l">
              <a:spcBef>
                <a:spcPts val="0"/>
              </a:spcBef>
              <a:spcAft>
                <a:spcPts val="200"/>
              </a:spcAft>
            </a:pPr>
            <a:r>
              <a:rPr sz="1100" b="0" i="0">
                <a:solidFill>
                  <a:srgbClr val="24292F"/>
                </a:solidFill>
                <a:latin typeface="Consolas"/>
              </a:rPr>
              <a:t>          () =&gt; runFrom(LabQueue.microtask, callback));</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    createTimer: (self, parent, zone, duration, callback) {</a:t>
            </a:r>
          </a:p>
          <a:p>
            <a:pPr algn="l">
              <a:spcBef>
                <a:spcPts val="0"/>
              </a:spcBef>
              <a:spcAft>
                <a:spcPts val="200"/>
              </a:spcAft>
            </a:pPr>
            <a:r>
              <a:rPr sz="1100" b="0" i="0">
                <a:solidFill>
                  <a:srgbClr val="24292F"/>
                </a:solidFill>
                <a:latin typeface="Consolas"/>
              </a:rPr>
              <a:t>      pending++;</a:t>
            </a:r>
          </a:p>
          <a:p>
            <a:pPr algn="l">
              <a:spcBef>
                <a:spcPts val="0"/>
              </a:spcBef>
              <a:spcAft>
                <a:spcPts val="200"/>
              </a:spcAft>
            </a:pPr>
            <a:r>
              <a:rPr sz="1100" b="0" i="0">
                <a:solidFill>
                  <a:srgbClr val="24292F"/>
                </a:solidFill>
                <a:latin typeface="Consolas"/>
              </a:rPr>
              <a:t>      return parent.createTimer(zone, duration, </a:t>
            </a:r>
          </a:p>
          <a:p>
            <a:pPr algn="l">
              <a:spcBef>
                <a:spcPts val="0"/>
              </a:spcBef>
              <a:spcAft>
                <a:spcPts val="200"/>
              </a:spcAft>
            </a:pPr>
            <a:r>
              <a:rPr sz="1100" b="0" i="0">
                <a:solidFill>
                  <a:srgbClr val="24292F"/>
                </a:solidFill>
                <a:latin typeface="Consolas"/>
              </a:rPr>
              <a:t>          () =&gt; runFrom(LabQueue.event, callback));</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Bẫy Zone chặn microtask và timer để đo đạc chính xác thứ tự thực thi: Call Stack -&gt; Microtask Queue -&gt; Event Queue.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PHẦN 2: UI &amp; STATE MANAGEMENT</a:t>
            </a:r>
          </a:p>
          <a:p>
            <a:pPr algn="l">
              <a:spcBef>
                <a:spcPts val="0"/>
              </a:spcBef>
              <a:spcAft>
                <a:spcPts val="0"/>
              </a:spcAft>
            </a:pPr>
            <a:r>
              <a:rPr sz="2600" b="1" i="0">
                <a:solidFill>
                  <a:srgbClr val="14233C"/>
                </a:solidFill>
                <a:latin typeface="Times New Roman"/>
              </a:rPr>
              <a:t>QUẢN LÝ STATE VỚI STOPWATCHSCOPE</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Lựa chọn InheritedWidget chuẩn Flutter</a:t>
            </a:r>
          </a:p>
          <a:p>
            <a:pPr algn="l">
              <a:spcBef>
                <a:spcPts val="0"/>
              </a:spcBef>
              <a:spcAft>
                <a:spcPts val="1800"/>
              </a:spcAft>
            </a:pPr>
            <a:r>
              <a:rPr sz="1600" b="0" i="0">
                <a:solidFill>
                  <a:srgbClr val="1E1E1E"/>
                </a:solidFill>
                <a:latin typeface="Times New Roman"/>
              </a:rPr>
              <a:t>• Giữ ứng dụng tinh gọn, không phụ thuộc thư viện quản lý state bên ngoài (như Bloc, Provider hay GetX).</a:t>
            </a:r>
            <a:br/>
            <a:r>
              <a:rPr sz="1600" b="0" i="0">
                <a:solidFill>
                  <a:srgbClr val="1E1E1E"/>
                </a:solidFill>
                <a:latin typeface="Times New Roman"/>
              </a:rPr>
              <a:t>• Bám sát chuẩn kiến trúc của Flutter SDK và trọng tâm môn học về luồng dữ liệu.</a:t>
            </a:r>
          </a:p>
          <a:p>
            <a:pPr algn="l">
              <a:spcBef>
                <a:spcPts val="0"/>
              </a:spcBef>
              <a:spcAft>
                <a:spcPts val="400"/>
              </a:spcAft>
            </a:pPr>
            <a:r>
              <a:rPr sz="1800" b="1" i="0">
                <a:solidFill>
                  <a:srgbClr val="14233C"/>
                </a:solidFill>
                <a:latin typeface="Times New Roman"/>
              </a:rPr>
              <a:t>StopwatchScope – Phân phối Service tập trung</a:t>
            </a:r>
          </a:p>
          <a:p>
            <a:pPr algn="l">
              <a:spcBef>
                <a:spcPts val="0"/>
              </a:spcBef>
              <a:spcAft>
                <a:spcPts val="1800"/>
              </a:spcAft>
            </a:pPr>
            <a:r>
              <a:rPr sz="1600" b="0" i="0">
                <a:solidFill>
                  <a:srgbClr val="1E1E1E"/>
                </a:solidFill>
                <a:latin typeface="Times New Roman"/>
              </a:rPr>
              <a:t>Cung cấp StopwatchService và StreamTracker xuống toàn bộ cây widget qua context:</a:t>
            </a:r>
            <a:br/>
            <a:r>
              <a:rPr sz="1600" b="0" i="0">
                <a:solidFill>
                  <a:srgbClr val="1E1E1E"/>
                </a:solidFill>
                <a:latin typeface="Times New Roman"/>
              </a:rPr>
              <a:t>• StopwatchScope.of(context): Lấy service điều khiển.</a:t>
            </a:r>
            <a:br/>
            <a:r>
              <a:rPr sz="1600" b="0" i="0">
                <a:solidFill>
                  <a:srgbClr val="1E1E1E"/>
                </a:solidFill>
                <a:latin typeface="Times New Roman"/>
              </a:rPr>
              <a:t>• StopwatchScope.trackerOf(context): Lấy tracker giám sát.</a:t>
            </a:r>
          </a:p>
          <a:p>
            <a:pPr algn="l">
              <a:spcBef>
                <a:spcPts val="0"/>
              </a:spcBef>
              <a:spcAft>
                <a:spcPts val="400"/>
              </a:spcAft>
            </a:pPr>
            <a:r>
              <a:rPr sz="1800" b="1" i="0">
                <a:solidFill>
                  <a:srgbClr val="14233C"/>
                </a:solidFill>
                <a:latin typeface="Times New Roman"/>
              </a:rPr>
              <a:t>Vòng đời quản lý tập trung tại Root Widget</a:t>
            </a:r>
          </a:p>
          <a:p>
            <a:pPr algn="l">
              <a:spcBef>
                <a:spcPts val="0"/>
              </a:spcBef>
              <a:spcAft>
                <a:spcPts val="1800"/>
              </a:spcAft>
            </a:pPr>
            <a:r>
              <a:rPr sz="1600" b="0" i="0">
                <a:solidFill>
                  <a:srgbClr val="1E1E1E"/>
                </a:solidFill>
                <a:latin typeface="Times New Roman"/>
              </a:rPr>
              <a:t>• Khởi tạo duy nhất trong initState() của MultiStopwatchApp.</a:t>
            </a:r>
            <a:br/>
            <a:r>
              <a:rPr sz="1600" b="0" i="0">
                <a:solidFill>
                  <a:srgbClr val="1E1E1E"/>
                </a:solidFill>
                <a:latin typeface="Times New Roman"/>
              </a:rPr>
              <a:t>• Giải phóng toàn bộ trong dispose(): Đảm bảo manager và tracker được dispose sạch sẽ khi app đóng.</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lib/ui/scope/stopwatch_scope.dart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14233C"/>
                </a:solidFill>
                <a:latin typeface="Consolas"/>
              </a:rPr>
              <a:t>class StopwatchScope extends InheritedWidget {</a:t>
            </a:r>
          </a:p>
          <a:p>
            <a:pPr algn="l">
              <a:spcBef>
                <a:spcPts val="0"/>
              </a:spcBef>
              <a:spcAft>
                <a:spcPts val="200"/>
              </a:spcAft>
            </a:pPr>
            <a:r>
              <a:rPr sz="1100" b="0" i="0">
                <a:solidFill>
                  <a:srgbClr val="24292F"/>
                </a:solidFill>
                <a:latin typeface="Consolas"/>
              </a:rPr>
              <a:t>  const StopwatchScope({</a:t>
            </a:r>
          </a:p>
          <a:p>
            <a:pPr algn="l">
              <a:spcBef>
                <a:spcPts val="0"/>
              </a:spcBef>
              <a:spcAft>
                <a:spcPts val="200"/>
              </a:spcAft>
            </a:pPr>
            <a:r>
              <a:rPr sz="1100" b="0" i="0">
                <a:solidFill>
                  <a:srgbClr val="24292F"/>
                </a:solidFill>
                <a:latin typeface="Consolas"/>
              </a:rPr>
              <a:t>    super.key,</a:t>
            </a:r>
          </a:p>
          <a:p>
            <a:pPr algn="l">
              <a:spcBef>
                <a:spcPts val="0"/>
              </a:spcBef>
              <a:spcAft>
                <a:spcPts val="200"/>
              </a:spcAft>
            </a:pPr>
            <a:r>
              <a:rPr sz="1100" b="0" i="0">
                <a:solidFill>
                  <a:srgbClr val="24292F"/>
                </a:solidFill>
                <a:latin typeface="Consolas"/>
              </a:rPr>
              <a:t>    required this.service,</a:t>
            </a:r>
          </a:p>
          <a:p>
            <a:pPr algn="l">
              <a:spcBef>
                <a:spcPts val="0"/>
              </a:spcBef>
              <a:spcAft>
                <a:spcPts val="200"/>
              </a:spcAft>
            </a:pPr>
            <a:r>
              <a:rPr sz="1100" b="0" i="0">
                <a:solidFill>
                  <a:srgbClr val="24292F"/>
                </a:solidFill>
                <a:latin typeface="Consolas"/>
              </a:rPr>
              <a:t>    this.tracker,</a:t>
            </a:r>
          </a:p>
          <a:p>
            <a:pPr algn="l">
              <a:spcBef>
                <a:spcPts val="0"/>
              </a:spcBef>
              <a:spcAft>
                <a:spcPts val="200"/>
              </a:spcAft>
            </a:pPr>
            <a:r>
              <a:rPr sz="1100" b="0" i="0">
                <a:solidFill>
                  <a:srgbClr val="24292F"/>
                </a:solidFill>
                <a:latin typeface="Consolas"/>
              </a:rPr>
              <a:t>    required super.child,</a:t>
            </a:r>
          </a:p>
          <a:p>
            <a:pPr algn="l">
              <a:spcBef>
                <a:spcPts val="0"/>
              </a:spcBef>
              <a:spcAft>
                <a:spcPts val="200"/>
              </a:spcAft>
            </a:pPr>
            <a:r>
              <a:rPr sz="1100" b="0" i="0">
                <a:solidFill>
                  <a:srgbClr val="24292F"/>
                </a:solidFill>
                <a:latin typeface="Consolas"/>
              </a:rPr>
              <a:t>  });</a:t>
            </a:r>
          </a:p>
          <a:p>
            <a:pPr algn="l">
              <a:spcBef>
                <a:spcPts val="0"/>
              </a:spcBef>
              <a:spcAft>
                <a:spcPts val="200"/>
              </a:spcAft>
            </a:pPr>
          </a:p>
          <a:p>
            <a:pPr algn="l">
              <a:spcBef>
                <a:spcPts val="0"/>
              </a:spcBef>
              <a:spcAft>
                <a:spcPts val="200"/>
              </a:spcAft>
            </a:pPr>
            <a:r>
              <a:rPr sz="1100" b="0" i="0">
                <a:solidFill>
                  <a:srgbClr val="24292F"/>
                </a:solidFill>
                <a:latin typeface="Consolas"/>
              </a:rPr>
              <a:t>  final StopwatchService service;</a:t>
            </a:r>
          </a:p>
          <a:p>
            <a:pPr algn="l">
              <a:spcBef>
                <a:spcPts val="0"/>
              </a:spcBef>
              <a:spcAft>
                <a:spcPts val="200"/>
              </a:spcAft>
            </a:pPr>
            <a:r>
              <a:rPr sz="1100" b="0" i="0">
                <a:solidFill>
                  <a:srgbClr val="24292F"/>
                </a:solidFill>
                <a:latin typeface="Consolas"/>
              </a:rPr>
              <a:t>  final StreamTracker? tracker;</a:t>
            </a:r>
          </a:p>
          <a:p>
            <a:pPr algn="l">
              <a:spcBef>
                <a:spcPts val="0"/>
              </a:spcBef>
              <a:spcAft>
                <a:spcPts val="200"/>
              </a:spcAft>
            </a:pPr>
          </a:p>
          <a:p>
            <a:pPr algn="l">
              <a:spcBef>
                <a:spcPts val="0"/>
              </a:spcBef>
              <a:spcAft>
                <a:spcPts val="200"/>
              </a:spcAft>
            </a:pPr>
            <a:r>
              <a:rPr sz="1100" b="0" i="0">
                <a:solidFill>
                  <a:srgbClr val="14233C"/>
                </a:solidFill>
                <a:latin typeface="Consolas"/>
              </a:rPr>
              <a:t>  static StopwatchService of(BuildContext context) =&gt;</a:t>
            </a:r>
          </a:p>
          <a:p>
            <a:pPr algn="l">
              <a:spcBef>
                <a:spcPts val="0"/>
              </a:spcBef>
              <a:spcAft>
                <a:spcPts val="200"/>
              </a:spcAft>
            </a:pPr>
            <a:r>
              <a:rPr sz="1100" b="0" i="0">
                <a:solidFill>
                  <a:srgbClr val="24292F"/>
                </a:solidFill>
                <a:latin typeface="Consolas"/>
              </a:rPr>
              <a:t>      context.dependOnInheritedWidgetOfExactType&lt;</a:t>
            </a:r>
          </a:p>
          <a:p>
            <a:pPr algn="l">
              <a:spcBef>
                <a:spcPts val="0"/>
              </a:spcBef>
              <a:spcAft>
                <a:spcPts val="200"/>
              </a:spcAft>
            </a:pPr>
            <a:r>
              <a:rPr sz="1100" b="0" i="0">
                <a:solidFill>
                  <a:srgbClr val="24292F"/>
                </a:solidFill>
                <a:latin typeface="Consolas"/>
              </a:rPr>
              <a:t>          StopwatchScope&gt;()!.service;</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Phân phối service và tracker xuống toàn bộ widget tree; hỗ trợ Dependency Injection sạch sẽ khi chạy Widget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HIỆU NĂNG GIAO DIỆN MƯỢT MÀ 60FPS</a:t>
            </a:r>
          </a:p>
          <a:p>
            <a:pPr algn="l">
              <a:spcBef>
                <a:spcPts val="0"/>
              </a:spcBef>
              <a:spcAft>
                <a:spcPts val="0"/>
              </a:spcAft>
            </a:pPr>
            <a:r>
              <a:rPr sz="2600" b="1" i="0">
                <a:solidFill>
                  <a:srgbClr val="14233C"/>
                </a:solidFill>
                <a:latin typeface="Times New Roman"/>
              </a:rPr>
              <a:t>KỸ THUẬT TỐI ƯU RENDER: CÔ LẬP REBUILD</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Thách thức lớn khi nhiều đồng hồ cùng chạy</a:t>
            </a:r>
          </a:p>
          <a:p>
            <a:pPr algn="l">
              <a:spcBef>
                <a:spcPts val="0"/>
              </a:spcBef>
              <a:spcAft>
                <a:spcPts val="1400"/>
              </a:spcAft>
            </a:pPr>
            <a:r>
              <a:rPr sz="1600" b="0" i="0">
                <a:solidFill>
                  <a:srgbClr val="1E1E1E"/>
                </a:solidFill>
                <a:latin typeface="Times New Roman"/>
              </a:rPr>
              <a:t>10 đồng hồ chạy song song ở tần suất 30fps -&gt; Có tới 300 sự kiện phát ra mỗi giây. Nếu đặt StreamBuilder ở thẻ cha TaskCard, cả màn hình sẽ bị vẽ lại 300 lần/giây, gây giật lag và hao pin.</a:t>
            </a:r>
          </a:p>
          <a:p>
            <a:pPr algn="l">
              <a:spcBef>
                <a:spcPts val="0"/>
              </a:spcBef>
              <a:spcAft>
                <a:spcPts val="400"/>
              </a:spcAft>
            </a:pPr>
            <a:r>
              <a:rPr sz="1800" b="1" i="0">
                <a:solidFill>
                  <a:srgbClr val="14233C"/>
                </a:solidFill>
                <a:latin typeface="Times New Roman"/>
              </a:rPr>
              <a:t>Giải pháp kiến trúc với ElapsedText</a:t>
            </a:r>
          </a:p>
          <a:p>
            <a:pPr algn="l">
              <a:spcBef>
                <a:spcPts val="0"/>
              </a:spcBef>
              <a:spcAft>
                <a:spcPts val="1400"/>
              </a:spcAft>
            </a:pPr>
            <a:r>
              <a:rPr sz="1600" b="0" i="0">
                <a:solidFill>
                  <a:srgbClr val="1E1E1E"/>
                </a:solidFill>
                <a:latin typeface="Times New Roman"/>
              </a:rPr>
              <a:t>Tách riêng ô hiển thị chữ số thời gian thành component ElapsedText độc lập:</a:t>
            </a:r>
            <a:br/>
            <a:r>
              <a:rPr sz="1600" b="0" i="0">
                <a:solidFill>
                  <a:srgbClr val="1E1E1E"/>
                </a:solidFill>
                <a:latin typeface="Times New Roman"/>
              </a:rPr>
              <a:t>• Chỉ duy nhất ô Text này lắng nghe elapsedStream và build lại.</a:t>
            </a:r>
            <a:br/>
            <a:r>
              <a:rPr sz="1600" b="0" i="0">
                <a:solidFill>
                  <a:srgbClr val="1E1E1E"/>
                </a:solidFill>
                <a:latin typeface="Times New Roman"/>
              </a:rPr>
              <a:t>• Toàn bộ TaskCard cha, nút bấm, tên đồng hồ giữ nguyên không bị rebuild.</a:t>
            </a:r>
          </a:p>
          <a:p>
            <a:pPr algn="l">
              <a:spcBef>
                <a:spcPts val="0"/>
              </a:spcBef>
              <a:spcAft>
                <a:spcPts val="400"/>
              </a:spcAft>
            </a:pPr>
            <a:r>
              <a:rPr sz="1800" b="1" i="0">
                <a:solidFill>
                  <a:srgbClr val="14233C"/>
                </a:solidFill>
                <a:latin typeface="Times New Roman"/>
              </a:rPr>
              <a:t>Quy tắc vòng đời Stream trong Widget</a:t>
            </a:r>
          </a:p>
          <a:p>
            <a:pPr algn="l">
              <a:spcBef>
                <a:spcPts val="0"/>
              </a:spcBef>
              <a:spcAft>
                <a:spcPts val="1400"/>
              </a:spcAft>
            </a:pPr>
            <a:r>
              <a:rPr sz="1600" b="0" i="0">
                <a:solidFill>
                  <a:srgbClr val="1E1E1E"/>
                </a:solidFill>
                <a:latin typeface="Times New Roman"/>
              </a:rPr>
              <a:t>Stream được lấy 1 lần duy nhất trong initState() hoặc didChangeDependencies(). Tuyệt đối không gọi service.elapsedStream() trong hàm build() để tránh rò rỉ.</a:t>
            </a:r>
          </a:p>
          <a:p>
            <a:pPr algn="l">
              <a:spcBef>
                <a:spcPts val="0"/>
              </a:spcBef>
              <a:spcAft>
                <a:spcPts val="400"/>
              </a:spcAft>
            </a:pPr>
            <a:r>
              <a:rPr sz="1800" b="1" i="0">
                <a:solidFill>
                  <a:srgbClr val="14233C"/>
                </a:solidFill>
                <a:latin typeface="Times New Roman"/>
              </a:rPr>
              <a:t>Định dạng kiểu chữ Monospace</a:t>
            </a:r>
          </a:p>
          <a:p>
            <a:pPr algn="l">
              <a:spcBef>
                <a:spcPts val="0"/>
              </a:spcBef>
              <a:spcAft>
                <a:spcPts val="1400"/>
              </a:spcAft>
            </a:pPr>
            <a:r>
              <a:rPr sz="1600" b="0" i="0">
                <a:solidFill>
                  <a:srgbClr val="1E1E1E"/>
                </a:solidFill>
                <a:latin typeface="Times New Roman"/>
              </a:rPr>
              <a:t>Sử dụng font chữ monospace giúp các con số có cùng chiều rộng cố định, loại bỏ hiện tượng co giật chữ số khi nhảy giờ.</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lib/ui/widgets/elapsed_text.dart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24292F"/>
                </a:solidFill>
                <a:latin typeface="Consolas"/>
              </a:rPr>
              <a:t>@override</a:t>
            </a:r>
          </a:p>
          <a:p>
            <a:pPr algn="l">
              <a:spcBef>
                <a:spcPts val="0"/>
              </a:spcBef>
              <a:spcAft>
                <a:spcPts val="200"/>
              </a:spcAft>
            </a:pPr>
            <a:r>
              <a:rPr sz="1100" b="0" i="0">
                <a:solidFill>
                  <a:srgbClr val="24292F"/>
                </a:solidFill>
                <a:latin typeface="Consolas"/>
              </a:rPr>
              <a:t>void didChangeDependencies() {</a:t>
            </a:r>
          </a:p>
          <a:p>
            <a:pPr algn="l">
              <a:spcBef>
                <a:spcPts val="0"/>
              </a:spcBef>
              <a:spcAft>
                <a:spcPts val="200"/>
              </a:spcAft>
            </a:pPr>
            <a:r>
              <a:rPr sz="1100" b="0" i="0">
                <a:solidFill>
                  <a:srgbClr val="24292F"/>
                </a:solidFill>
                <a:latin typeface="Consolas"/>
              </a:rPr>
              <a:t>  super.didChangeDependencies();</a:t>
            </a:r>
          </a:p>
          <a:p>
            <a:pPr algn="l">
              <a:spcBef>
                <a:spcPts val="0"/>
              </a:spcBef>
              <a:spcAft>
                <a:spcPts val="200"/>
              </a:spcAft>
            </a:pPr>
            <a:r>
              <a:rPr sz="1100" b="0" i="0">
                <a:solidFill>
                  <a:srgbClr val="24292F"/>
                </a:solidFill>
                <a:latin typeface="Consolas"/>
              </a:rPr>
              <a:t>  _elapsedStream ??= StopwatchScope.of(context)</a:t>
            </a:r>
          </a:p>
          <a:p>
            <a:pPr algn="l">
              <a:spcBef>
                <a:spcPts val="0"/>
              </a:spcBef>
              <a:spcAft>
                <a:spcPts val="200"/>
              </a:spcAft>
            </a:pPr>
            <a:r>
              <a:rPr sz="1100" b="0" i="0">
                <a:solidFill>
                  <a:srgbClr val="24292F"/>
                </a:solidFill>
                <a:latin typeface="Consolas"/>
              </a:rPr>
              <a:t>      .elapsedStream(widget.taskId);</a:t>
            </a:r>
          </a:p>
          <a:p>
            <a:pPr algn="l">
              <a:spcBef>
                <a:spcPts val="0"/>
              </a:spcBef>
              <a:spcAft>
                <a:spcPts val="200"/>
              </a:spcAft>
            </a:pPr>
            <a:r>
              <a:rPr sz="1100" b="0" i="0">
                <a:solidFill>
                  <a:srgbClr val="24292F"/>
                </a:solidFill>
                <a:latin typeface="Consolas"/>
              </a:rPr>
              <a:t>}</a:t>
            </a:r>
          </a:p>
          <a:p>
            <a:pPr algn="l">
              <a:spcBef>
                <a:spcPts val="0"/>
              </a:spcBef>
              <a:spcAft>
                <a:spcPts val="200"/>
              </a:spcAft>
            </a:pPr>
          </a:p>
          <a:p>
            <a:pPr algn="l">
              <a:spcBef>
                <a:spcPts val="0"/>
              </a:spcBef>
              <a:spcAft>
                <a:spcPts val="200"/>
              </a:spcAft>
            </a:pPr>
            <a:r>
              <a:rPr sz="1100" b="0" i="0">
                <a:solidFill>
                  <a:srgbClr val="24292F"/>
                </a:solidFill>
                <a:latin typeface="Consolas"/>
              </a:rPr>
              <a:t>@override</a:t>
            </a:r>
          </a:p>
          <a:p>
            <a:pPr algn="l">
              <a:spcBef>
                <a:spcPts val="0"/>
              </a:spcBef>
              <a:spcAft>
                <a:spcPts val="200"/>
              </a:spcAft>
            </a:pPr>
            <a:r>
              <a:rPr sz="1100" b="0" i="0">
                <a:solidFill>
                  <a:srgbClr val="24292F"/>
                </a:solidFill>
                <a:latin typeface="Consolas"/>
              </a:rPr>
              <a:t>Widget build(BuildContext context) {</a:t>
            </a:r>
          </a:p>
          <a:p>
            <a:pPr algn="l">
              <a:spcBef>
                <a:spcPts val="0"/>
              </a:spcBef>
              <a:spcAft>
                <a:spcPts val="200"/>
              </a:spcAft>
            </a:pPr>
            <a:r>
              <a:rPr sz="1100" b="0" i="0">
                <a:solidFill>
                  <a:srgbClr val="24292F"/>
                </a:solidFill>
                <a:latin typeface="Consolas"/>
              </a:rPr>
              <a:t>  return StreamBuilder&lt;Duration&gt;(</a:t>
            </a:r>
          </a:p>
          <a:p>
            <a:pPr algn="l">
              <a:spcBef>
                <a:spcPts val="0"/>
              </a:spcBef>
              <a:spcAft>
                <a:spcPts val="200"/>
              </a:spcAft>
            </a:pPr>
            <a:r>
              <a:rPr sz="1100" b="0" i="0">
                <a:solidFill>
                  <a:srgbClr val="24292F"/>
                </a:solidFill>
                <a:latin typeface="Consolas"/>
              </a:rPr>
              <a:t>    stream: _elapsedStream,</a:t>
            </a:r>
          </a:p>
          <a:p>
            <a:pPr algn="l">
              <a:spcBef>
                <a:spcPts val="0"/>
              </a:spcBef>
              <a:spcAft>
                <a:spcPts val="200"/>
              </a:spcAft>
            </a:pPr>
            <a:r>
              <a:rPr sz="1100" b="0" i="0">
                <a:solidFill>
                  <a:srgbClr val="24292F"/>
                </a:solidFill>
                <a:latin typeface="Consolas"/>
              </a:rPr>
              <a:t>    builder: (context, snapshot) =&gt; Text(</a:t>
            </a:r>
          </a:p>
          <a:p>
            <a:pPr algn="l">
              <a:spcBef>
                <a:spcPts val="0"/>
              </a:spcBef>
              <a:spcAft>
                <a:spcPts val="200"/>
              </a:spcAft>
            </a:pPr>
            <a:r>
              <a:rPr sz="1100" b="0" i="0">
                <a:solidFill>
                  <a:srgbClr val="24292F"/>
                </a:solidFill>
                <a:latin typeface="Consolas"/>
              </a:rPr>
              <a:t>      formatElapsed(snapshot.data ?? widget.initialElapsed),</a:t>
            </a:r>
          </a:p>
          <a:p>
            <a:pPr algn="l">
              <a:spcBef>
                <a:spcPts val="0"/>
              </a:spcBef>
              <a:spcAft>
                <a:spcPts val="200"/>
              </a:spcAft>
            </a:pPr>
            <a:r>
              <a:rPr sz="1100" b="0" i="0">
                <a:solidFill>
                  <a:srgbClr val="24292F"/>
                </a:solidFill>
                <a:latin typeface="Consolas"/>
              </a:rPr>
              <a:t>      style: const TextStyle(fontFamily: 'monospace'),</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Cô lập phạm vi rebuild chỉ trong ô chữ số thời gian; toàn bộ Card cha và danh sách đứng yên, duy trì 60fps mượt mà.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TRẢI NGHIỆM ĐA TÁC VỤ TIỆN LỢI</a:t>
            </a:r>
          </a:p>
          <a:p>
            <a:pPr algn="l">
              <a:spcBef>
                <a:spcPts val="0"/>
              </a:spcBef>
              <a:spcAft>
                <a:spcPts val="0"/>
              </a:spcAft>
            </a:pPr>
            <a:r>
              <a:rPr sz="2600" b="1" i="0">
                <a:solidFill>
                  <a:srgbClr val="14233C"/>
                </a:solidFill>
                <a:latin typeface="Times New Roman"/>
              </a:rPr>
              <a:t>MÀN HÌNH CHÍNH VÀ THAO TÁC HÀNG LOẠT</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Thanh công cụ Thao tác hàng loạt (Batch Toolbar)</a:t>
            </a:r>
          </a:p>
          <a:p>
            <a:pPr algn="l">
              <a:spcBef>
                <a:spcPts val="0"/>
              </a:spcBef>
              <a:spcAft>
                <a:spcPts val="1400"/>
              </a:spcAft>
            </a:pPr>
            <a:r>
              <a:rPr sz="1600" b="0" i="0">
                <a:solidFill>
                  <a:srgbClr val="1E1E1E"/>
                </a:solidFill>
                <a:latin typeface="Times New Roman"/>
              </a:rPr>
              <a:t>Cho phép điều khiển toàn bộ danh sách chỉ bằng một cú chạm:</a:t>
            </a:r>
            <a:br/>
            <a:r>
              <a:rPr sz="1600" b="0" i="0">
                <a:solidFill>
                  <a:srgbClr val="1E1E1E"/>
                </a:solidFill>
                <a:latin typeface="Times New Roman"/>
              </a:rPr>
              <a:t>• Chạy tất cả (Start All): Bật các đồng hồ đang nghỉ/tạm dừng.</a:t>
            </a:r>
            <a:br/>
            <a:r>
              <a:rPr sz="1600" b="0" i="0">
                <a:solidFill>
                  <a:srgbClr val="1E1E1E"/>
                </a:solidFill>
                <a:latin typeface="Times New Roman"/>
              </a:rPr>
              <a:t>• Tạm dừng tất cả (Pause All): Dừng đồng thời mọi đồng hồ đang chạy.</a:t>
            </a:r>
            <a:br/>
            <a:r>
              <a:rPr sz="1600" b="0" i="0">
                <a:solidFill>
                  <a:srgbClr val="1E1E1E"/>
                </a:solidFill>
                <a:latin typeface="Times New Roman"/>
              </a:rPr>
              <a:t>• Reset tất cả &amp; Xóa tất cả: Kèm dialog cảnh báo nêu rõ số lượng.</a:t>
            </a:r>
          </a:p>
          <a:p>
            <a:pPr algn="l">
              <a:spcBef>
                <a:spcPts val="0"/>
              </a:spcBef>
              <a:spcAft>
                <a:spcPts val="400"/>
              </a:spcAft>
            </a:pPr>
            <a:r>
              <a:rPr sz="1800" b="1" i="0">
                <a:solidFill>
                  <a:srgbClr val="14233C"/>
                </a:solidFill>
                <a:latin typeface="Times New Roman"/>
              </a:rPr>
              <a:t>Trạng thái nút thông minh</a:t>
            </a:r>
          </a:p>
          <a:p>
            <a:pPr algn="l">
              <a:spcBef>
                <a:spcPts val="0"/>
              </a:spcBef>
              <a:spcAft>
                <a:spcPts val="1400"/>
              </a:spcAft>
            </a:pPr>
            <a:r>
              <a:rPr sz="1600" b="0" i="0">
                <a:solidFill>
                  <a:srgbClr val="1E1E1E"/>
                </a:solidFill>
                <a:latin typeface="Times New Roman"/>
              </a:rPr>
              <a:t>Nút tự động enable/disable theo dữ liệu (Ví dụ: Không có đồng hồ nào đang chạy thì nút 'Tạm dừng tất cả' tự động mờ đi).</a:t>
            </a:r>
          </a:p>
          <a:p>
            <a:pPr algn="l">
              <a:spcBef>
                <a:spcPts val="0"/>
              </a:spcBef>
              <a:spcAft>
                <a:spcPts val="400"/>
              </a:spcAft>
            </a:pPr>
            <a:r>
              <a:rPr sz="1800" b="1" i="0">
                <a:solidFill>
                  <a:srgbClr val="14233C"/>
                </a:solidFill>
                <a:latin typeface="Times New Roman"/>
              </a:rPr>
              <a:t>Tìm kiếm Debounced 300ms</a:t>
            </a:r>
          </a:p>
          <a:p>
            <a:pPr algn="l">
              <a:spcBef>
                <a:spcPts val="0"/>
              </a:spcBef>
              <a:spcAft>
                <a:spcPts val="1400"/>
              </a:spcAft>
            </a:pPr>
            <a:r>
              <a:rPr sz="1600" b="0" i="0">
                <a:solidFill>
                  <a:srgbClr val="1E1E1E"/>
                </a:solidFill>
                <a:latin typeface="Times New Roman"/>
              </a:rPr>
              <a:t>Tích hợp trực tiếp DebounceTransformer của tầng Core; thanh tìm kiếm lọc theo tên mượt mà, loại bỏ độ trễ và không giật lag.</a:t>
            </a:r>
          </a:p>
          <a:p>
            <a:pPr algn="l">
              <a:spcBef>
                <a:spcPts val="0"/>
              </a:spcBef>
              <a:spcAft>
                <a:spcPts val="400"/>
              </a:spcAft>
            </a:pPr>
            <a:r>
              <a:rPr sz="1800" b="1" i="0">
                <a:solidFill>
                  <a:srgbClr val="14233C"/>
                </a:solidFill>
                <a:latin typeface="Times New Roman"/>
              </a:rPr>
              <a:t>Thiết kế thích ứng (Responsive Layout)</a:t>
            </a:r>
          </a:p>
          <a:p>
            <a:pPr algn="l">
              <a:spcBef>
                <a:spcPts val="0"/>
              </a:spcBef>
              <a:spcAft>
                <a:spcPts val="1400"/>
              </a:spcAft>
            </a:pPr>
            <a:r>
              <a:rPr sz="1600" b="0" i="0">
                <a:solidFill>
                  <a:srgbClr val="1E1E1E"/>
                </a:solidFill>
                <a:latin typeface="Times New Roman"/>
              </a:rPr>
              <a:t>Dùng LayoutBuilder: Màn hình hẹp hiển thị ListView cuộn mượt; màn hình rộng (Tablet/Desktop) tự chuyển sang GridView nhiều cột.</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lib/ui/screens/home_screen.dart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5A5F69"/>
                </a:solidFill>
                <a:latin typeface="Consolas"/>
              </a:rPr>
              <a:t>// 1. Tìm kiếm Debounce 300ms từ Stream nguồn:</a:t>
            </a:r>
          </a:p>
          <a:p>
            <a:pPr algn="l">
              <a:spcBef>
                <a:spcPts val="0"/>
              </a:spcBef>
              <a:spcAft>
                <a:spcPts val="200"/>
              </a:spcAft>
            </a:pPr>
            <a:r>
              <a:rPr sz="1100" b="0" i="0">
                <a:solidFill>
                  <a:srgbClr val="24292F"/>
                </a:solidFill>
                <a:latin typeface="Consolas"/>
              </a:rPr>
              <a:t>_searchSubscription = _searchController.stream</a:t>
            </a:r>
          </a:p>
          <a:p>
            <a:pPr algn="l">
              <a:spcBef>
                <a:spcPts val="0"/>
              </a:spcBef>
              <a:spcAft>
                <a:spcPts val="200"/>
              </a:spcAft>
            </a:pPr>
            <a:r>
              <a:rPr sz="1100" b="0" i="0">
                <a:solidFill>
                  <a:srgbClr val="24292F"/>
                </a:solidFill>
                <a:latin typeface="Consolas"/>
              </a:rPr>
              <a:t>    .debounced(const Duration(milliseconds: 300))</a:t>
            </a:r>
          </a:p>
          <a:p>
            <a:pPr algn="l">
              <a:spcBef>
                <a:spcPts val="0"/>
              </a:spcBef>
              <a:spcAft>
                <a:spcPts val="200"/>
              </a:spcAft>
            </a:pPr>
            <a:r>
              <a:rPr sz="1100" b="0" i="0">
                <a:solidFill>
                  <a:srgbClr val="24292F"/>
                </a:solidFill>
                <a:latin typeface="Consolas"/>
              </a:rPr>
              <a:t>    .listen((query) =&gt; setState(() =&gt; _searchQuery = query));</a:t>
            </a:r>
          </a:p>
          <a:p>
            <a:pPr algn="l">
              <a:spcBef>
                <a:spcPts val="0"/>
              </a:spcBef>
              <a:spcAft>
                <a:spcPts val="200"/>
              </a:spcAft>
            </a:pPr>
          </a:p>
          <a:p>
            <a:pPr algn="l">
              <a:spcBef>
                <a:spcPts val="0"/>
              </a:spcBef>
              <a:spcAft>
                <a:spcPts val="200"/>
              </a:spcAft>
            </a:pPr>
            <a:r>
              <a:rPr sz="1100" b="0" i="0">
                <a:solidFill>
                  <a:srgbClr val="5A5F69"/>
                </a:solidFill>
                <a:latin typeface="Consolas"/>
              </a:rPr>
              <a:t>// 2. Thao tác hàng loạt an toàn có xác nhận:</a:t>
            </a:r>
          </a:p>
          <a:p>
            <a:pPr algn="l">
              <a:spcBef>
                <a:spcPts val="0"/>
              </a:spcBef>
              <a:spcAft>
                <a:spcPts val="200"/>
              </a:spcAft>
            </a:pPr>
            <a:r>
              <a:rPr sz="1100" b="0" i="0">
                <a:solidFill>
                  <a:srgbClr val="14233C"/>
                </a:solidFill>
                <a:latin typeface="Consolas"/>
              </a:rPr>
              <a:t>Future&lt;void&gt; _handleBatchRun() async =&gt; await _service.runAll();</a:t>
            </a:r>
          </a:p>
          <a:p>
            <a:pPr algn="l">
              <a:spcBef>
                <a:spcPts val="0"/>
              </a:spcBef>
              <a:spcAft>
                <a:spcPts val="200"/>
              </a:spcAft>
            </a:pPr>
          </a:p>
          <a:p>
            <a:pPr algn="l">
              <a:spcBef>
                <a:spcPts val="0"/>
              </a:spcBef>
              <a:spcAft>
                <a:spcPts val="200"/>
              </a:spcAft>
            </a:pPr>
            <a:r>
              <a:rPr sz="1100" b="0" i="0">
                <a:solidFill>
                  <a:srgbClr val="14233C"/>
                </a:solidFill>
                <a:latin typeface="Consolas"/>
              </a:rPr>
              <a:t>Future&lt;void&gt; _handleBatchReset() async {</a:t>
            </a:r>
          </a:p>
          <a:p>
            <a:pPr algn="l">
              <a:spcBef>
                <a:spcPts val="0"/>
              </a:spcBef>
              <a:spcAft>
                <a:spcPts val="200"/>
              </a:spcAft>
            </a:pPr>
            <a:r>
              <a:rPr sz="1100" b="0" i="0">
                <a:solidFill>
                  <a:srgbClr val="24292F"/>
                </a:solidFill>
                <a:latin typeface="Consolas"/>
              </a:rPr>
              <a:t>  final ok = await _showConfirmDialog('Reset toàn bộ đồng hồ?');</a:t>
            </a:r>
          </a:p>
          <a:p>
            <a:pPr algn="l">
              <a:spcBef>
                <a:spcPts val="0"/>
              </a:spcBef>
              <a:spcAft>
                <a:spcPts val="200"/>
              </a:spcAft>
            </a:pPr>
            <a:r>
              <a:rPr sz="1100" b="0" i="0">
                <a:solidFill>
                  <a:srgbClr val="24292F"/>
                </a:solidFill>
                <a:latin typeface="Consolas"/>
              </a:rPr>
              <a:t>  if (ok == true) await _service.resetAll();</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Thanh công cụ Batch Toolbar đồng bộ với service; tìm kiếm Debounce 300ms mượt mà, ngăn ngừa gọi lọc liên tục.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THEO DÕI TỪNG VÒNG CHẠY CHÍNH XÁC</a:t>
            </a:r>
          </a:p>
          <a:p>
            <a:pPr algn="l">
              <a:spcBef>
                <a:spcPts val="0"/>
              </a:spcBef>
              <a:spcAft>
                <a:spcPts val="0"/>
              </a:spcAft>
            </a:pPr>
            <a:r>
              <a:rPr sz="2600" b="1" i="0">
                <a:solidFill>
                  <a:srgbClr val="14233C"/>
                </a:solidFill>
                <a:latin typeface="Times New Roman"/>
              </a:rPr>
              <a:t>MÀN HÌNH CHI TIẾT VÀ TÍNH NĂNG LAP DELTA</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Màn hình chuyên dụng cho từng đồng hồ</a:t>
            </a:r>
          </a:p>
          <a:p>
            <a:pPr algn="l">
              <a:spcBef>
                <a:spcPts val="0"/>
              </a:spcBef>
              <a:spcAft>
                <a:spcPts val="1400"/>
              </a:spcAft>
            </a:pPr>
            <a:r>
              <a:rPr sz="1600" b="0" i="0">
                <a:solidFill>
                  <a:srgbClr val="1E1E1E"/>
                </a:solidFill>
                <a:latin typeface="Times New Roman"/>
              </a:rPr>
              <a:t>Chuyển từ HomeScreen sang TaskDetailScreen khi bấm vào thẻ; hiển thị đồng hồ số kích thước lớn và vòng tròn trạng thái trực quan.</a:t>
            </a:r>
          </a:p>
          <a:p>
            <a:pPr algn="l">
              <a:spcBef>
                <a:spcPts val="0"/>
              </a:spcBef>
              <a:spcAft>
                <a:spcPts val="400"/>
              </a:spcAft>
            </a:pPr>
            <a:r>
              <a:rPr sz="1800" b="1" i="0">
                <a:solidFill>
                  <a:srgbClr val="14233C"/>
                </a:solidFill>
                <a:latin typeface="Times New Roman"/>
              </a:rPr>
              <a:t>Ghi nhận Vòng chạy (Lap Recording)</a:t>
            </a:r>
          </a:p>
          <a:p>
            <a:pPr algn="l">
              <a:spcBef>
                <a:spcPts val="0"/>
              </a:spcBef>
              <a:spcAft>
                <a:spcPts val="1400"/>
              </a:spcAft>
            </a:pPr>
            <a:r>
              <a:rPr sz="1600" b="0" i="0">
                <a:solidFill>
                  <a:srgbClr val="1E1E1E"/>
                </a:solidFill>
                <a:latin typeface="Times New Roman"/>
              </a:rPr>
              <a:t>• Nút Bấm Lap hoạt động ngay cả khi đồng hồ đang chạy.</a:t>
            </a:r>
            <a:br/>
            <a:r>
              <a:rPr sz="1600" b="0" i="0">
                <a:solidFill>
                  <a:srgbClr val="1E1E1E"/>
                </a:solidFill>
                <a:latin typeface="Times New Roman"/>
              </a:rPr>
              <a:t>• Mỗi Lap lưu trữ 4 trường: Thứ tự vòng, Thời gian vòng (Lap time), Tổng thời gian tích lũy (Total elapsed), và Chênh lệch (Delta).</a:t>
            </a:r>
          </a:p>
          <a:p>
            <a:pPr algn="l">
              <a:spcBef>
                <a:spcPts val="0"/>
              </a:spcBef>
              <a:spcAft>
                <a:spcPts val="400"/>
              </a:spcAft>
            </a:pPr>
            <a:r>
              <a:rPr sz="1800" b="1" i="0">
                <a:solidFill>
                  <a:srgbClr val="14233C"/>
                </a:solidFill>
                <a:latin typeface="Times New Roman"/>
              </a:rPr>
              <a:t>Trực quan hóa Chênh lệch (Lap Delta)</a:t>
            </a:r>
          </a:p>
          <a:p>
            <a:pPr algn="l">
              <a:spcBef>
                <a:spcPts val="0"/>
              </a:spcBef>
              <a:spcAft>
                <a:spcPts val="1400"/>
              </a:spcAft>
            </a:pPr>
            <a:r>
              <a:rPr sz="1600" b="0" i="0">
                <a:solidFill>
                  <a:srgbClr val="1E1E1E"/>
                </a:solidFill>
                <a:latin typeface="Times New Roman"/>
              </a:rPr>
              <a:t>Tự động so sánh thời gian vòng hiện tại với vòng ngay trước đó:</a:t>
            </a:r>
            <a:br/>
            <a:r>
              <a:rPr sz="1600" b="0" i="0">
                <a:solidFill>
                  <a:srgbClr val="1E1E1E"/>
                </a:solidFill>
                <a:latin typeface="Times New Roman"/>
              </a:rPr>
              <a:t>• Màu Xanh lá (-00:01.20): Vòng này chạy NHANH HƠN vòng trước.</a:t>
            </a:r>
            <a:br/>
            <a:r>
              <a:rPr sz="1600" b="0" i="0">
                <a:solidFill>
                  <a:srgbClr val="1E1E1E"/>
                </a:solidFill>
                <a:latin typeface="Times New Roman"/>
              </a:rPr>
              <a:t>• Màu Đỏ (+00:02.15): Vòng này chạy CHẬM HƠN vòng trước.</a:t>
            </a:r>
            <a:br/>
            <a:r>
              <a:rPr sz="1600" b="0" i="0">
                <a:solidFill>
                  <a:srgbClr val="1E1E1E"/>
                </a:solidFill>
                <a:latin typeface="Times New Roman"/>
              </a:rPr>
              <a:t>• Giúp người dùng phân tích thành tích luyện tập trực quan.</a:t>
            </a:r>
          </a:p>
          <a:p>
            <a:pPr algn="l">
              <a:spcBef>
                <a:spcPts val="0"/>
              </a:spcBef>
              <a:spcAft>
                <a:spcPts val="400"/>
              </a:spcAft>
            </a:pPr>
            <a:r>
              <a:rPr sz="1800" b="1" i="0">
                <a:solidFill>
                  <a:srgbClr val="14233C"/>
                </a:solidFill>
                <a:latin typeface="Times New Roman"/>
              </a:rPr>
              <a:t>Đối soát vòng đời khi thoát màn hình</a:t>
            </a:r>
          </a:p>
          <a:p>
            <a:pPr algn="l">
              <a:spcBef>
                <a:spcPts val="0"/>
              </a:spcBef>
              <a:spcAft>
                <a:spcPts val="1400"/>
              </a:spcAft>
            </a:pPr>
            <a:r>
              <a:rPr sz="1600" b="0" i="0">
                <a:solidFill>
                  <a:srgbClr val="1E1E1E"/>
                </a:solidFill>
                <a:latin typeface="Times New Roman"/>
              </a:rPr>
              <a:t>Khi rời TaskDetailScreen về HomeScreen, subscription nghe giờ bị hủy tức thì; activeCount giảm chính xác từ 2 về 0.</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lib/core/services/stopwatch_manager.dart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5A5F69"/>
                </a:solidFill>
                <a:latin typeface="Consolas"/>
              </a:rPr>
              <a:t>// Tính toán Lap Time và độ chênh lệch Delta:</a:t>
            </a:r>
          </a:p>
          <a:p>
            <a:pPr algn="l">
              <a:spcBef>
                <a:spcPts val="0"/>
              </a:spcBef>
              <a:spcAft>
                <a:spcPts val="200"/>
              </a:spcAft>
            </a:pPr>
            <a:r>
              <a:rPr sz="1100" b="0" i="0">
                <a:solidFill>
                  <a:srgbClr val="24292F"/>
                </a:solidFill>
                <a:latin typeface="Consolas"/>
              </a:rPr>
              <a:t>final previousLap = laps.isEmpty ? null : laps.last;</a:t>
            </a:r>
          </a:p>
          <a:p>
            <a:pPr algn="l">
              <a:spcBef>
                <a:spcPts val="0"/>
              </a:spcBef>
              <a:spcAft>
                <a:spcPts val="200"/>
              </a:spcAft>
            </a:pPr>
            <a:r>
              <a:rPr sz="1100" b="0" i="0">
                <a:solidFill>
                  <a:srgbClr val="24292F"/>
                </a:solidFill>
                <a:latin typeface="Consolas"/>
              </a:rPr>
              <a:t>final lapTime = previousLap == null</a:t>
            </a:r>
          </a:p>
          <a:p>
            <a:pPr algn="l">
              <a:spcBef>
                <a:spcPts val="0"/>
              </a:spcBef>
              <a:spcAft>
                <a:spcPts val="200"/>
              </a:spcAft>
            </a:pPr>
            <a:r>
              <a:rPr sz="1100" b="0" i="0">
                <a:solidFill>
                  <a:srgbClr val="24292F"/>
                </a:solidFill>
                <a:latin typeface="Consolas"/>
              </a:rPr>
              <a:t>    ? currentElapsed</a:t>
            </a:r>
          </a:p>
          <a:p>
            <a:pPr algn="l">
              <a:spcBef>
                <a:spcPts val="0"/>
              </a:spcBef>
              <a:spcAft>
                <a:spcPts val="200"/>
              </a:spcAft>
            </a:pPr>
            <a:r>
              <a:rPr sz="1100" b="0" i="0">
                <a:solidFill>
                  <a:srgbClr val="24292F"/>
                </a:solidFill>
                <a:latin typeface="Consolas"/>
              </a:rPr>
              <a:t>    : currentElapsed - previousLap.totalElapsed;</a:t>
            </a:r>
          </a:p>
          <a:p>
            <a:pPr algn="l">
              <a:spcBef>
                <a:spcPts val="0"/>
              </a:spcBef>
              <a:spcAft>
                <a:spcPts val="200"/>
              </a:spcAft>
            </a:pPr>
            <a:r>
              <a:rPr sz="1100" b="0" i="0">
                <a:solidFill>
                  <a:srgbClr val="24292F"/>
                </a:solidFill>
                <a:latin typeface="Consolas"/>
              </a:rPr>
              <a:t>final delta = previousLap == null </a:t>
            </a:r>
          </a:p>
          <a:p>
            <a:pPr algn="l">
              <a:spcBef>
                <a:spcPts val="0"/>
              </a:spcBef>
              <a:spcAft>
                <a:spcPts val="200"/>
              </a:spcAft>
            </a:pPr>
            <a:r>
              <a:rPr sz="1100" b="0" i="0">
                <a:solidFill>
                  <a:srgbClr val="24292F"/>
                </a:solidFill>
                <a:latin typeface="Consolas"/>
              </a:rPr>
              <a:t>    ? null </a:t>
            </a:r>
          </a:p>
          <a:p>
            <a:pPr algn="l">
              <a:spcBef>
                <a:spcPts val="0"/>
              </a:spcBef>
              <a:spcAft>
                <a:spcPts val="200"/>
              </a:spcAft>
            </a:pPr>
            <a:r>
              <a:rPr sz="1100" b="0" i="0">
                <a:solidFill>
                  <a:srgbClr val="24292F"/>
                </a:solidFill>
                <a:latin typeface="Consolas"/>
              </a:rPr>
              <a:t>    : lapTime - previousLap.lapTime;</a:t>
            </a:r>
          </a:p>
          <a:p>
            <a:pPr algn="l">
              <a:spcBef>
                <a:spcPts val="0"/>
              </a:spcBef>
              <a:spcAft>
                <a:spcPts val="200"/>
              </a:spcAft>
            </a:pPr>
          </a:p>
          <a:p>
            <a:pPr algn="l">
              <a:spcBef>
                <a:spcPts val="0"/>
              </a:spcBef>
              <a:spcAft>
                <a:spcPts val="200"/>
              </a:spcAft>
            </a:pPr>
            <a:r>
              <a:rPr sz="1100" b="0" i="0">
                <a:solidFill>
                  <a:srgbClr val="24292F"/>
                </a:solidFill>
                <a:latin typeface="Consolas"/>
              </a:rPr>
              <a:t>final lap = Lap(</a:t>
            </a:r>
          </a:p>
          <a:p>
            <a:pPr algn="l">
              <a:spcBef>
                <a:spcPts val="0"/>
              </a:spcBef>
              <a:spcAft>
                <a:spcPts val="200"/>
              </a:spcAft>
            </a:pPr>
            <a:r>
              <a:rPr sz="1100" b="0" i="0">
                <a:solidFill>
                  <a:srgbClr val="24292F"/>
                </a:solidFill>
                <a:latin typeface="Consolas"/>
              </a:rPr>
              <a:t>  lapNumber: laps.length + 1,</a:t>
            </a:r>
          </a:p>
          <a:p>
            <a:pPr algn="l">
              <a:spcBef>
                <a:spcPts val="0"/>
              </a:spcBef>
              <a:spcAft>
                <a:spcPts val="200"/>
              </a:spcAft>
            </a:pPr>
            <a:r>
              <a:rPr sz="1100" b="0" i="0">
                <a:solidFill>
                  <a:srgbClr val="24292F"/>
                </a:solidFill>
                <a:latin typeface="Consolas"/>
              </a:rPr>
              <a:t>  lapTime: lapTime,</a:t>
            </a:r>
          </a:p>
          <a:p>
            <a:pPr algn="l">
              <a:spcBef>
                <a:spcPts val="0"/>
              </a:spcBef>
              <a:spcAft>
                <a:spcPts val="200"/>
              </a:spcAft>
            </a:pPr>
            <a:r>
              <a:rPr sz="1100" b="0" i="0">
                <a:solidFill>
                  <a:srgbClr val="24292F"/>
                </a:solidFill>
                <a:latin typeface="Consolas"/>
              </a:rPr>
              <a:t>  totalElapsed: currentElapsed,</a:t>
            </a:r>
          </a:p>
          <a:p>
            <a:pPr algn="l">
              <a:spcBef>
                <a:spcPts val="0"/>
              </a:spcBef>
              <a:spcAft>
                <a:spcPts val="200"/>
              </a:spcAft>
            </a:pPr>
            <a:r>
              <a:rPr sz="1100" b="0" i="0">
                <a:solidFill>
                  <a:srgbClr val="24292F"/>
                </a:solidFill>
                <a:latin typeface="Consolas"/>
              </a:rPr>
              <a:t>  delta: delta, // Delta &lt; 0: Nhanh hơn, Delta &gt; 0: Chậm hơn</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Thuật toán tính Lap Time và Delta chuẩn xác; UI tự động tô màu Xanh lá (nhanh hơn) hoặc Đỏ (chậm hơn) trực quan.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GIAO DIỆN KIỂM CHỨNG TRỰC TIẾP</a:t>
            </a:r>
          </a:p>
          <a:p>
            <a:pPr algn="l">
              <a:spcBef>
                <a:spcPts val="0"/>
              </a:spcBef>
              <a:spcAft>
                <a:spcPts val="0"/>
              </a:spcAft>
            </a:pPr>
            <a:r>
              <a:rPr sz="2600" b="1" i="0">
                <a:solidFill>
                  <a:srgbClr val="14233C"/>
                </a:solidFill>
                <a:latin typeface="Times New Roman"/>
              </a:rPr>
              <a:t>CÔNG CỤ TRỰC QUAN: DEBUG SCREEN &amp; EVENT LAB</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DebugScreen – Giám sát Subscription trực tiếp</a:t>
            </a:r>
          </a:p>
          <a:p>
            <a:pPr algn="l">
              <a:spcBef>
                <a:spcPts val="0"/>
              </a:spcBef>
              <a:spcAft>
                <a:spcPts val="1600"/>
              </a:spcAft>
            </a:pPr>
            <a:r>
              <a:rPr sz="1600" b="0" i="0">
                <a:solidFill>
                  <a:srgbClr val="1E1E1E"/>
                </a:solidFill>
                <a:latin typeface="Times New Roman"/>
              </a:rPr>
              <a:t>• Hiển thị số lượng subscription đang hoạt động (activeCount) to rõ ở đầu màn hình.</a:t>
            </a:r>
            <a:br/>
            <a:r>
              <a:rPr sz="1600" b="0" i="0">
                <a:solidFill>
                  <a:srgbClr val="1E1E1E"/>
                </a:solidFill>
                <a:latin typeface="Times New Roman"/>
              </a:rPr>
              <a:t>• Phân rã chi tiết từng nguồn luồng: tasksStream, elapsedStream:&lt;id&gt;.</a:t>
            </a:r>
            <a:br/>
            <a:r>
              <a:rPr sz="1600" b="0" i="0">
                <a:solidFill>
                  <a:srgbClr val="1E1E1E"/>
                </a:solidFill>
                <a:latin typeface="Times New Roman"/>
              </a:rPr>
              <a:t>• Dòng thời gian trực quan hóa các sự kiện: LISTEN (Xanh), CANCEL (Cam), DONE (Tím), DISPOSE (Đỏ).</a:t>
            </a:r>
            <a:br/>
            <a:r>
              <a:rPr sz="1600" b="0" i="0">
                <a:solidFill>
                  <a:srgbClr val="1E1E1E"/>
                </a:solidFill>
                <a:latin typeface="Times New Roman"/>
              </a:rPr>
              <a:t>• Bộ lọc sự kiện thông minh giúp giảng viên dễ dàng kiểm chứng việc hủy luồng.</a:t>
            </a:r>
          </a:p>
          <a:p>
            <a:pPr algn="l">
              <a:spcBef>
                <a:spcPts val="0"/>
              </a:spcBef>
              <a:spcAft>
                <a:spcPts val="400"/>
              </a:spcAft>
            </a:pPr>
            <a:r>
              <a:rPr sz="1800" b="1" i="0">
                <a:solidFill>
                  <a:srgbClr val="14233C"/>
                </a:solidFill>
                <a:latin typeface="Times New Roman"/>
              </a:rPr>
              <a:t>EventLabScreen – Phòng thí nghiệm Event Loop</a:t>
            </a:r>
          </a:p>
          <a:p>
            <a:pPr algn="l">
              <a:spcBef>
                <a:spcPts val="0"/>
              </a:spcBef>
              <a:spcAft>
                <a:spcPts val="1600"/>
              </a:spcAft>
            </a:pPr>
            <a:r>
              <a:rPr sz="1600" b="0" i="0">
                <a:solidFill>
                  <a:srgbClr val="1E1E1E"/>
                </a:solidFill>
                <a:latin typeface="Times New Roman"/>
              </a:rPr>
              <a:t>• Cho phép chọn từng kịch bản hoặc bấm 'Run All' để chạy toàn bộ 6 kịch bản bất đồng bộ.</a:t>
            </a:r>
            <a:br/>
            <a:r>
              <a:rPr sz="1600" b="0" i="0">
                <a:solidFill>
                  <a:srgbClr val="1E1E1E"/>
                </a:solidFill>
                <a:latin typeface="Times New Roman"/>
              </a:rPr>
              <a:t>• Đo thời gian thực tế tính bằng micro-giây (µs) và hiển thị thứ tự thực thi rõ ràng.</a:t>
            </a:r>
            <a:br/>
            <a:r>
              <a:rPr sz="1600" b="0" i="0">
                <a:solidFill>
                  <a:srgbClr val="1E1E1E"/>
                </a:solidFill>
                <a:latin typeface="Times New Roman"/>
              </a:rPr>
              <a:t>• Gắn nhãn màu trực quan: SYNC (Ngọc), MICROTASK (Cam), EVENT (Tím).</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lib/core/debug/stream_tracker.dart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14233C"/>
                </a:solidFill>
                <a:latin typeface="Consolas"/>
              </a:rPr>
              <a:t>Stream&lt;T&gt; track&lt;T&gt;(String source, Stream&lt;T&gt; stream) {</a:t>
            </a:r>
          </a:p>
          <a:p>
            <a:pPr algn="l">
              <a:spcBef>
                <a:spcPts val="0"/>
              </a:spcBef>
              <a:spcAft>
                <a:spcPts val="200"/>
              </a:spcAft>
            </a:pPr>
            <a:r>
              <a:rPr sz="1100" b="0" i="0">
                <a:solidFill>
                  <a:srgbClr val="24292F"/>
                </a:solidFill>
                <a:latin typeface="Consolas"/>
              </a:rPr>
              <a:t>  return Stream&lt;T&gt;.multi((controller) {</a:t>
            </a:r>
          </a:p>
          <a:p>
            <a:pPr algn="l">
              <a:spcBef>
                <a:spcPts val="0"/>
              </a:spcBef>
              <a:spcAft>
                <a:spcPts val="200"/>
              </a:spcAft>
            </a:pPr>
            <a:r>
              <a:rPr sz="1100" b="0" i="0">
                <a:solidFill>
                  <a:srgbClr val="24292F"/>
                </a:solidFill>
                <a:latin typeface="Consolas"/>
              </a:rPr>
              <a:t>    _record(StreamLogKind.listen, source, delta: 1);</a:t>
            </a:r>
          </a:p>
          <a:p>
            <a:pPr algn="l">
              <a:spcBef>
                <a:spcPts val="0"/>
              </a:spcBef>
              <a:spcAft>
                <a:spcPts val="200"/>
              </a:spcAft>
            </a:pPr>
            <a:r>
              <a:rPr sz="1100" b="0" i="0">
                <a:solidFill>
                  <a:srgbClr val="24292F"/>
                </a:solidFill>
                <a:latin typeface="Consolas"/>
              </a:rPr>
              <a:t>    final sub = stream.listen(</a:t>
            </a:r>
          </a:p>
          <a:p>
            <a:pPr algn="l">
              <a:spcBef>
                <a:spcPts val="0"/>
              </a:spcBef>
              <a:spcAft>
                <a:spcPts val="200"/>
              </a:spcAft>
            </a:pPr>
            <a:r>
              <a:rPr sz="1100" b="0" i="0">
                <a:solidFill>
                  <a:srgbClr val="24292F"/>
                </a:solidFill>
                <a:latin typeface="Consolas"/>
              </a:rPr>
              <a:t>      controller.addSync,</a:t>
            </a:r>
          </a:p>
          <a:p>
            <a:pPr algn="l">
              <a:spcBef>
                <a:spcPts val="0"/>
              </a:spcBef>
              <a:spcAft>
                <a:spcPts val="200"/>
              </a:spcAft>
            </a:pPr>
            <a:r>
              <a:rPr sz="1100" b="0" i="0">
                <a:solidFill>
                  <a:srgbClr val="24292F"/>
                </a:solidFill>
                <a:latin typeface="Consolas"/>
              </a:rPr>
              <a:t>      onError: controller.addErrorSync,</a:t>
            </a:r>
          </a:p>
          <a:p>
            <a:pPr algn="l">
              <a:spcBef>
                <a:spcPts val="0"/>
              </a:spcBef>
              <a:spcAft>
                <a:spcPts val="200"/>
              </a:spcAft>
            </a:pPr>
            <a:r>
              <a:rPr sz="1100" b="0" i="0">
                <a:solidFill>
                  <a:srgbClr val="24292F"/>
                </a:solidFill>
                <a:latin typeface="Consolas"/>
              </a:rPr>
              <a:t>      onDone: () {</a:t>
            </a:r>
          </a:p>
          <a:p>
            <a:pPr algn="l">
              <a:spcBef>
                <a:spcPts val="0"/>
              </a:spcBef>
              <a:spcAft>
                <a:spcPts val="200"/>
              </a:spcAft>
            </a:pPr>
            <a:r>
              <a:rPr sz="1100" b="0" i="0">
                <a:solidFill>
                  <a:srgbClr val="24292F"/>
                </a:solidFill>
                <a:latin typeface="Consolas"/>
              </a:rPr>
              <a:t>        _record(StreamLogKind.done, source, delta: -1);</a:t>
            </a:r>
          </a:p>
          <a:p>
            <a:pPr algn="l">
              <a:spcBef>
                <a:spcPts val="0"/>
              </a:spcBef>
              <a:spcAft>
                <a:spcPts val="200"/>
              </a:spcAft>
            </a:pPr>
            <a:r>
              <a:rPr sz="1100" b="0" i="0">
                <a:solidFill>
                  <a:srgbClr val="24292F"/>
                </a:solidFill>
                <a:latin typeface="Consolas"/>
              </a:rPr>
              <a:t>        controller.closeSync();</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    controller.onCancel = () {</a:t>
            </a:r>
          </a:p>
          <a:p>
            <a:pPr algn="l">
              <a:spcBef>
                <a:spcPts val="0"/>
              </a:spcBef>
              <a:spcAft>
                <a:spcPts val="200"/>
              </a:spcAft>
            </a:pPr>
            <a:r>
              <a:rPr sz="1100" b="0" i="0">
                <a:solidFill>
                  <a:srgbClr val="24292F"/>
                </a:solidFill>
                <a:latin typeface="Consolas"/>
              </a:rPr>
              <a:t>      _record(StreamLogKind.cancel, source, delta: -1);</a:t>
            </a:r>
          </a:p>
          <a:p>
            <a:pPr algn="l">
              <a:spcBef>
                <a:spcPts val="0"/>
              </a:spcBef>
              <a:spcAft>
                <a:spcPts val="200"/>
              </a:spcAft>
            </a:pPr>
            <a:r>
              <a:rPr sz="1100" b="0" i="0">
                <a:solidFill>
                  <a:srgbClr val="24292F"/>
                </a:solidFill>
                <a:latin typeface="Consolas"/>
              </a:rPr>
              <a:t>      return sub.cancel();</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  });</a:t>
            </a:r>
          </a:p>
          <a:p>
            <a:pPr algn="l">
              <a:spcBef>
                <a:spcPts val="0"/>
              </a:spcBef>
              <a:spcAft>
                <a:spcPts val="200"/>
              </a:spcAft>
            </a:pPr>
            <a:r>
              <a:rPr sz="1100" b="0" i="0">
                <a:solidFill>
                  <a:srgbClr val="24292F"/>
                </a:solidFill>
                <a:latin typeface="Consolas"/>
              </a:rPr>
              <a:t>}</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Bọc stream tự động tăng giảm delta subscription và phát log sự kiện; DebugScreen hiển thị trực quan không góc khuất.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l">
              <a:spcBef>
                <a:spcPts val="0"/>
              </a:spcBef>
              <a:spcAft>
                <a:spcPts val="400"/>
              </a:spcAft>
            </a:pPr>
            <a:r>
              <a:rPr sz="1300" b="1" i="0">
                <a:solidFill>
                  <a:srgbClr val="1A4B8C"/>
                </a:solidFill>
                <a:latin typeface="Times New Roman"/>
              </a:rPr>
              <a:t>KẾT QUẢ DỰ ÁN</a:t>
            </a:r>
          </a:p>
          <a:p>
            <a:pPr algn="l">
              <a:spcBef>
                <a:spcPts val="0"/>
              </a:spcBef>
              <a:spcAft>
                <a:spcPts val="0"/>
              </a:spcAft>
            </a:pPr>
            <a:r>
              <a:rPr sz="2600" b="1" i="0">
                <a:solidFill>
                  <a:srgbClr val="14233C"/>
                </a:solidFill>
                <a:latin typeface="Times New Roman"/>
              </a:rPr>
              <a:t>ĐÁNH GIÁ CHẤT LƯỢNG, TỔNG KẾT VÀ Q&amp;A</a:t>
            </a:r>
          </a:p>
        </p:txBody>
      </p:sp>
      <p:sp>
        <p:nvSpPr>
          <p:cNvPr id="4" name="TextBox 3"/>
          <p:cNvSpPr txBox="1"/>
          <p:nvPr/>
        </p:nvSpPr>
        <p:spPr>
          <a:xfrm>
            <a:off x="731520" y="1645920"/>
            <a:ext cx="5029200" cy="4663440"/>
          </a:xfrm>
          <a:prstGeom prst="rect">
            <a:avLst/>
          </a:prstGeom>
          <a:noFill/>
        </p:spPr>
        <p:txBody>
          <a:bodyPr wrap="square">
            <a:spAutoFit/>
          </a:bodyPr>
          <a:lstStyle/>
          <a:p>
            <a:pPr algn="l">
              <a:spcBef>
                <a:spcPts val="0"/>
              </a:spcBef>
              <a:spcAft>
                <a:spcPts val="400"/>
              </a:spcAft>
            </a:pPr>
            <a:r>
              <a:rPr sz="1800" b="1" i="0">
                <a:solidFill>
                  <a:srgbClr val="14233C"/>
                </a:solidFill>
                <a:latin typeface="Times New Roman"/>
              </a:rPr>
              <a:t>Kiểm thử tự động toàn diện (Automated Testing)</a:t>
            </a:r>
          </a:p>
          <a:p>
            <a:pPr algn="l">
              <a:spcBef>
                <a:spcPts val="0"/>
              </a:spcBef>
              <a:spcAft>
                <a:spcPts val="1400"/>
              </a:spcAft>
            </a:pPr>
            <a:r>
              <a:rPr sz="1600" b="0" i="0">
                <a:solidFill>
                  <a:srgbClr val="1E1E1E"/>
                </a:solidFill>
                <a:latin typeface="Times New Roman"/>
              </a:rPr>
              <a:t>• 221 / 221 Tests Passed (Tỷ lệ đạt: 100%)</a:t>
            </a:r>
            <a:br/>
            <a:r>
              <a:rPr sz="1600" b="0" i="0">
                <a:solidFill>
                  <a:srgbClr val="1E1E1E"/>
                </a:solidFill>
                <a:latin typeface="Times New Roman"/>
              </a:rPr>
              <a:t>• Bao phủ Unit Tests (Models, Ticker, Transformers, Storage, Lab, Debug).</a:t>
            </a:r>
            <a:br/>
            <a:r>
              <a:rPr sz="1600" b="0" i="0">
                <a:solidFill>
                  <a:srgbClr val="1E1E1E"/>
                </a:solidFill>
                <a:latin typeface="Times New Roman"/>
              </a:rPr>
              <a:t>• Bao phủ Integration Tests (Chống trôi 100 giờ ảo, khôi phục app, rollback).</a:t>
            </a:r>
            <a:br/>
            <a:r>
              <a:rPr sz="1600" b="0" i="0">
                <a:solidFill>
                  <a:srgbClr val="1E1E1E"/>
                </a:solidFill>
                <a:latin typeface="Times New Roman"/>
              </a:rPr>
              <a:t>• Bao phủ Widget Tests &amp; Vòng đời subscription (subscription_lifecycle_test).</a:t>
            </a:r>
          </a:p>
          <a:p>
            <a:pPr algn="l">
              <a:spcBef>
                <a:spcPts val="0"/>
              </a:spcBef>
              <a:spcAft>
                <a:spcPts val="400"/>
              </a:spcAft>
            </a:pPr>
            <a:r>
              <a:rPr sz="1800" b="1" i="0">
                <a:solidFill>
                  <a:srgbClr val="14233C"/>
                </a:solidFill>
                <a:latin typeface="Times New Roman"/>
              </a:rPr>
              <a:t>Chất lượng mã nguồn tuyệt đối</a:t>
            </a:r>
          </a:p>
          <a:p>
            <a:pPr algn="l">
              <a:spcBef>
                <a:spcPts val="0"/>
              </a:spcBef>
              <a:spcAft>
                <a:spcPts val="1400"/>
              </a:spcAft>
            </a:pPr>
            <a:r>
              <a:rPr sz="1600" b="0" i="0">
                <a:solidFill>
                  <a:srgbClr val="1E1E1E"/>
                </a:solidFill>
                <a:latin typeface="Times New Roman"/>
              </a:rPr>
              <a:t>Lệnh flutter analyze kết thúc với: 'No issues found!'. Mã nguồn tuân thủ chặt chẽ toàn bộ quy chuẩn flutter_lints.</a:t>
            </a:r>
          </a:p>
          <a:p>
            <a:pPr algn="l">
              <a:spcBef>
                <a:spcPts val="0"/>
              </a:spcBef>
              <a:spcAft>
                <a:spcPts val="400"/>
              </a:spcAft>
            </a:pPr>
            <a:r>
              <a:rPr sz="1800" b="1" i="0">
                <a:solidFill>
                  <a:srgbClr val="14233C"/>
                </a:solidFill>
                <a:latin typeface="Times New Roman"/>
              </a:rPr>
              <a:t>Kết luận &amp; Bài học kinh nghiệm</a:t>
            </a:r>
          </a:p>
          <a:p>
            <a:pPr algn="l">
              <a:spcBef>
                <a:spcPts val="0"/>
              </a:spcBef>
              <a:spcAft>
                <a:spcPts val="1400"/>
              </a:spcAft>
            </a:pPr>
            <a:r>
              <a:rPr sz="1600" b="0" i="0">
                <a:solidFill>
                  <a:srgbClr val="1E1E1E"/>
                </a:solidFill>
                <a:latin typeface="Times New Roman"/>
              </a:rPr>
              <a:t>• Nắm vững kiến trúc bất đồng bộ chuyên sâu trong Dart &amp; Flutter.</a:t>
            </a:r>
            <a:br/>
            <a:r>
              <a:rPr sz="1600" b="0" i="0">
                <a:solidFill>
                  <a:srgbClr val="1E1E1E"/>
                </a:solidFill>
                <a:latin typeface="Times New Roman"/>
              </a:rPr>
              <a:t>• Xây dựng thành công module Reactive thời gian thực hiệu năng cao, cam kết 0% rò rỉ tài nguyên.</a:t>
            </a:r>
          </a:p>
        </p:txBody>
      </p:sp>
      <p:sp>
        <p:nvSpPr>
          <p:cNvPr id="5" name="Rounded Rectangle 4"/>
          <p:cNvSpPr/>
          <p:nvPr/>
        </p:nvSpPr>
        <p:spPr>
          <a:xfrm>
            <a:off x="5943600" y="1645920"/>
            <a:ext cx="5486400" cy="4663440"/>
          </a:xfrm>
          <a:prstGeom prst="roundRect">
            <a:avLst/>
          </a:prstGeom>
          <a:solidFill>
            <a:srgbClr val="F6F8FA"/>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755648"/>
            <a:ext cx="5120640" cy="320040"/>
          </a:xfrm>
          <a:prstGeom prst="rect">
            <a:avLst/>
          </a:prstGeom>
          <a:noFill/>
        </p:spPr>
        <p:txBody>
          <a:bodyPr wrap="square" lIns="0" tIns="0" rIns="0" bIns="0">
            <a:spAutoFit/>
          </a:bodyPr>
          <a:lstStyle/>
          <a:p>
            <a:pPr algn="l">
              <a:spcBef>
                <a:spcPts val="0"/>
              </a:spcBef>
              <a:spcAft>
                <a:spcPts val="600"/>
              </a:spcAft>
            </a:pPr>
            <a:r>
              <a:rPr sz="1200" b="1" i="0">
                <a:solidFill>
                  <a:srgbClr val="1A4B8C"/>
                </a:solidFill>
                <a:latin typeface="Consolas"/>
              </a:rPr>
              <a:t>📄 test/ui/subscription_lifecycle_test.dart</a:t>
            </a:r>
          </a:p>
        </p:txBody>
      </p:sp>
      <p:sp>
        <p:nvSpPr>
          <p:cNvPr id="7" name="TextBox 6"/>
          <p:cNvSpPr txBox="1"/>
          <p:nvPr/>
        </p:nvSpPr>
        <p:spPr>
          <a:xfrm>
            <a:off x="6126480" y="2121408"/>
            <a:ext cx="5120640" cy="3291840"/>
          </a:xfrm>
          <a:prstGeom prst="rect">
            <a:avLst/>
          </a:prstGeom>
          <a:noFill/>
        </p:spPr>
        <p:txBody>
          <a:bodyPr wrap="square" lIns="0" tIns="0" rIns="0" bIns="0">
            <a:spAutoFit/>
          </a:bodyPr>
          <a:lstStyle/>
          <a:p>
            <a:pPr algn="l">
              <a:spcBef>
                <a:spcPts val="0"/>
              </a:spcBef>
              <a:spcAft>
                <a:spcPts val="200"/>
              </a:spcAft>
            </a:pPr>
            <a:r>
              <a:rPr sz="1100" b="0" i="0">
                <a:solidFill>
                  <a:srgbClr val="24292F"/>
                </a:solidFill>
                <a:latin typeface="Consolas"/>
              </a:rPr>
              <a:t>testWidgets('Pop TaskDetailScreen: subscription về 0',</a:t>
            </a:r>
          </a:p>
          <a:p>
            <a:pPr algn="l">
              <a:spcBef>
                <a:spcPts val="0"/>
              </a:spcBef>
              <a:spcAft>
                <a:spcPts val="200"/>
              </a:spcAft>
            </a:pPr>
            <a:r>
              <a:rPr sz="1100" b="0" i="0">
                <a:solidFill>
                  <a:srgbClr val="24292F"/>
                </a:solidFill>
                <a:latin typeface="Consolas"/>
              </a:rPr>
              <a:t>    (tester) async {</a:t>
            </a:r>
          </a:p>
          <a:p>
            <a:pPr algn="l">
              <a:spcBef>
                <a:spcPts val="0"/>
              </a:spcBef>
              <a:spcAft>
                <a:spcPts val="200"/>
              </a:spcAft>
            </a:pPr>
            <a:r>
              <a:rPr sz="1100" b="0" i="0">
                <a:solidFill>
                  <a:srgbClr val="5A5F69"/>
                </a:solidFill>
                <a:latin typeface="Consolas"/>
              </a:rPr>
              <a:t>  // 1. Mở màn hình chi tiết đồng hồ</a:t>
            </a:r>
          </a:p>
          <a:p>
            <a:pPr algn="l">
              <a:spcBef>
                <a:spcPts val="0"/>
              </a:spcBef>
              <a:spcAft>
                <a:spcPts val="200"/>
              </a:spcAft>
            </a:pPr>
            <a:r>
              <a:rPr sz="1100" b="0" i="0">
                <a:solidFill>
                  <a:srgbClr val="24292F"/>
                </a:solidFill>
                <a:latin typeface="Consolas"/>
              </a:rPr>
              <a:t>  await tester.pumpWidget(buildDetailScreen(taskId));</a:t>
            </a:r>
          </a:p>
          <a:p>
            <a:pPr algn="l">
              <a:spcBef>
                <a:spcPts val="0"/>
              </a:spcBef>
              <a:spcAft>
                <a:spcPts val="200"/>
              </a:spcAft>
            </a:pPr>
            <a:r>
              <a:rPr sz="1100" b="0" i="0">
                <a:solidFill>
                  <a:srgbClr val="24292F"/>
                </a:solidFill>
                <a:latin typeface="Consolas"/>
              </a:rPr>
              <a:t>  expect(tracker.activeCount, 2); // tasks + elapsed</a:t>
            </a:r>
          </a:p>
          <a:p>
            <a:pPr algn="l">
              <a:spcBef>
                <a:spcPts val="0"/>
              </a:spcBef>
              <a:spcAft>
                <a:spcPts val="200"/>
              </a:spcAft>
            </a:pPr>
          </a:p>
          <a:p>
            <a:pPr algn="l">
              <a:spcBef>
                <a:spcPts val="0"/>
              </a:spcBef>
              <a:spcAft>
                <a:spcPts val="200"/>
              </a:spcAft>
            </a:pPr>
            <a:r>
              <a:rPr sz="1100" b="0" i="0">
                <a:solidFill>
                  <a:srgbClr val="5A5F69"/>
                </a:solidFill>
                <a:latin typeface="Consolas"/>
              </a:rPr>
              <a:t>  // 2. Thoát (Pop) quay về HomeScreen</a:t>
            </a:r>
          </a:p>
          <a:p>
            <a:pPr algn="l">
              <a:spcBef>
                <a:spcPts val="0"/>
              </a:spcBef>
              <a:spcAft>
                <a:spcPts val="200"/>
              </a:spcAft>
            </a:pPr>
            <a:r>
              <a:rPr sz="1100" b="0" i="0">
                <a:solidFill>
                  <a:srgbClr val="24292F"/>
                </a:solidFill>
                <a:latin typeface="Consolas"/>
              </a:rPr>
              <a:t>  await tester.tap(find.byType(BackButton));</a:t>
            </a:r>
          </a:p>
          <a:p>
            <a:pPr algn="l">
              <a:spcBef>
                <a:spcPts val="0"/>
              </a:spcBef>
              <a:spcAft>
                <a:spcPts val="200"/>
              </a:spcAft>
            </a:pPr>
            <a:r>
              <a:rPr sz="1100" b="0" i="0">
                <a:solidFill>
                  <a:srgbClr val="24292F"/>
                </a:solidFill>
                <a:latin typeface="Consolas"/>
              </a:rPr>
              <a:t>  await tester.pumpAndSettle();</a:t>
            </a:r>
          </a:p>
          <a:p>
            <a:pPr algn="l">
              <a:spcBef>
                <a:spcPts val="0"/>
              </a:spcBef>
              <a:spcAft>
                <a:spcPts val="200"/>
              </a:spcAft>
            </a:pPr>
          </a:p>
          <a:p>
            <a:pPr algn="l">
              <a:spcBef>
                <a:spcPts val="0"/>
              </a:spcBef>
              <a:spcAft>
                <a:spcPts val="200"/>
              </a:spcAft>
            </a:pPr>
            <a:r>
              <a:rPr sz="1100" b="0" i="0">
                <a:solidFill>
                  <a:srgbClr val="5A5F69"/>
                </a:solidFill>
                <a:latin typeface="Consolas"/>
              </a:rPr>
              <a:t>  // 3. Minh chứng 100% không rò rỉ bộ nhớ</a:t>
            </a:r>
          </a:p>
          <a:p>
            <a:pPr algn="l">
              <a:spcBef>
                <a:spcPts val="0"/>
              </a:spcBef>
              <a:spcAft>
                <a:spcPts val="200"/>
              </a:spcAft>
            </a:pPr>
            <a:r>
              <a:rPr sz="1100" b="0" i="0">
                <a:solidFill>
                  <a:srgbClr val="24292F"/>
                </a:solidFill>
                <a:latin typeface="Consolas"/>
              </a:rPr>
              <a:t>  expect(tracker.activeCount, 0);</a:t>
            </a:r>
          </a:p>
          <a:p>
            <a:pPr algn="l">
              <a:spcBef>
                <a:spcPts val="0"/>
              </a:spcBef>
              <a:spcAft>
                <a:spcPts val="200"/>
              </a:spcAft>
            </a:pPr>
            <a:r>
              <a:rPr sz="1100" b="0" i="0">
                <a:solidFill>
                  <a:srgbClr val="24292F"/>
                </a:solidFill>
                <a:latin typeface="Consolas"/>
              </a:rPr>
              <a:t>});</a:t>
            </a:r>
          </a:p>
          <a:p>
            <a:pPr algn="l">
              <a:spcBef>
                <a:spcPts val="0"/>
              </a:spcBef>
              <a:spcAft>
                <a:spcPts val="200"/>
              </a:spcAft>
            </a:pPr>
          </a:p>
          <a:p>
            <a:pPr algn="l">
              <a:spcBef>
                <a:spcPts val="0"/>
              </a:spcBef>
              <a:spcAft>
                <a:spcPts val="200"/>
              </a:spcAft>
            </a:pPr>
            <a:r>
              <a:rPr sz="1100" b="0" i="0">
                <a:solidFill>
                  <a:srgbClr val="5A5F69"/>
                </a:solidFill>
                <a:latin typeface="Consolas"/>
              </a:rPr>
              <a:t>// Kết quả thực tế: All 221 tests passed! (100%)</a:t>
            </a:r>
          </a:p>
        </p:txBody>
      </p:sp>
      <p:sp>
        <p:nvSpPr>
          <p:cNvPr id="8" name="Rounded Rectangle 7"/>
          <p:cNvSpPr/>
          <p:nvPr/>
        </p:nvSpPr>
        <p:spPr>
          <a:xfrm>
            <a:off x="6080760" y="5532120"/>
            <a:ext cx="5212080" cy="658368"/>
          </a:xfrm>
          <a:prstGeom prst="roundRect">
            <a:avLst/>
          </a:prstGeom>
          <a:solidFill>
            <a:srgbClr val="EEF3FA"/>
          </a:solidFill>
          <a:ln w="12700">
            <a:solidFill>
              <a:srgbClr val="1A4B8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spcBef>
                <a:spcPts val="0"/>
              </a:spcBef>
              <a:spcAft>
                <a:spcPts val="200"/>
              </a:spcAft>
            </a:pPr>
            <a:r>
              <a:rPr sz="1200" b="1" i="0">
                <a:solidFill>
                  <a:srgbClr val="1A4B8C"/>
                </a:solidFill>
                <a:latin typeface="Times New Roman"/>
              </a:rPr>
              <a:t>💡 Ý nghĩa đoạn code: </a:t>
            </a:r>
            <a:r>
              <a:rPr sz="1200" b="0">
                <a:solidFill>
                  <a:srgbClr val="1E1E1E"/>
                </a:solidFill>
                <a:latin typeface="Times New Roman"/>
              </a:rPr>
              <a:t>Bộ test tự động chứng minh subscription được dọn dẹp sạch sẽ; 221/221 test đều vượt qua thành công mỹ mãn.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